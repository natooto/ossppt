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tmp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8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9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10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11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54"/>
  </p:notesMasterIdLst>
  <p:sldIdLst>
    <p:sldId id="321" r:id="rId2"/>
    <p:sldId id="394" r:id="rId3"/>
    <p:sldId id="346" r:id="rId4"/>
    <p:sldId id="347" r:id="rId5"/>
    <p:sldId id="393" r:id="rId6"/>
    <p:sldId id="348" r:id="rId7"/>
    <p:sldId id="349" r:id="rId8"/>
    <p:sldId id="350" r:id="rId9"/>
    <p:sldId id="351" r:id="rId10"/>
    <p:sldId id="352" r:id="rId11"/>
    <p:sldId id="353" r:id="rId12"/>
    <p:sldId id="354" r:id="rId13"/>
    <p:sldId id="355" r:id="rId14"/>
    <p:sldId id="356" r:id="rId15"/>
    <p:sldId id="357" r:id="rId16"/>
    <p:sldId id="358" r:id="rId17"/>
    <p:sldId id="359" r:id="rId18"/>
    <p:sldId id="360" r:id="rId19"/>
    <p:sldId id="361" r:id="rId20"/>
    <p:sldId id="362" r:id="rId21"/>
    <p:sldId id="363" r:id="rId22"/>
    <p:sldId id="364" r:id="rId23"/>
    <p:sldId id="365" r:id="rId24"/>
    <p:sldId id="366" r:id="rId25"/>
    <p:sldId id="367" r:id="rId26"/>
    <p:sldId id="368" r:id="rId27"/>
    <p:sldId id="369" r:id="rId28"/>
    <p:sldId id="370" r:id="rId29"/>
    <p:sldId id="371" r:id="rId30"/>
    <p:sldId id="396" r:id="rId31"/>
    <p:sldId id="372" r:id="rId32"/>
    <p:sldId id="373" r:id="rId33"/>
    <p:sldId id="374" r:id="rId34"/>
    <p:sldId id="387" r:id="rId35"/>
    <p:sldId id="375" r:id="rId36"/>
    <p:sldId id="376" r:id="rId37"/>
    <p:sldId id="377" r:id="rId38"/>
    <p:sldId id="378" r:id="rId39"/>
    <p:sldId id="379" r:id="rId40"/>
    <p:sldId id="380" r:id="rId41"/>
    <p:sldId id="381" r:id="rId42"/>
    <p:sldId id="382" r:id="rId43"/>
    <p:sldId id="383" r:id="rId44"/>
    <p:sldId id="384" r:id="rId45"/>
    <p:sldId id="385" r:id="rId46"/>
    <p:sldId id="386" r:id="rId47"/>
    <p:sldId id="388" r:id="rId48"/>
    <p:sldId id="389" r:id="rId49"/>
    <p:sldId id="390" r:id="rId50"/>
    <p:sldId id="391" r:id="rId51"/>
    <p:sldId id="392" r:id="rId52"/>
    <p:sldId id="395" r:id="rId5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865" autoAdjust="0"/>
  </p:normalViewPr>
  <p:slideViewPr>
    <p:cSldViewPr snapToGrid="0">
      <p:cViewPr varScale="1">
        <p:scale>
          <a:sx n="98" d="100"/>
          <a:sy n="98" d="100"/>
        </p:scale>
        <p:origin x="110" y="101"/>
      </p:cViewPr>
      <p:guideLst/>
    </p:cSldViewPr>
  </p:slideViewPr>
  <p:outlineViewPr>
    <p:cViewPr>
      <p:scale>
        <a:sx n="33" d="100"/>
        <a:sy n="33" d="100"/>
      </p:scale>
      <p:origin x="0" y="-64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C0710-FEB9-4CE2-9CD9-B63D1A3DC4CE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1A7FE0-CD29-4BAD-A9FD-CBED1172C0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8221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592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85385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4168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middle section in Figure 11.11b is empty. Thus, this reduces to the strategy of Figure 11.11a.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old section consists of one block, and we have the LRU replacement policy.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37392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83817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5725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850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67595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60422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3055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71228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C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95869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middle section in Figure 11.11b is empty. Thus, this reduces to the strategy of Figure 11.11a.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old section consists of one block, and we have the LRU replacement policy.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1A7FE0-CD29-4BAD-A9FD-CBED1172C06E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6416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FE539C7D-6274-457E-B14C-B3CD979E377F}"/>
              </a:ext>
            </a:extLst>
          </p:cNvPr>
          <p:cNvSpPr/>
          <p:nvPr userDrawn="1"/>
        </p:nvSpPr>
        <p:spPr>
          <a:xfrm>
            <a:off x="0" y="2143032"/>
            <a:ext cx="12192000" cy="2387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3060" y="2771480"/>
            <a:ext cx="11387579" cy="108099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4829" y="5026055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4458224F-424D-4D25-9F64-88BCF92BEF8B}"/>
              </a:ext>
            </a:extLst>
          </p:cNvPr>
          <p:cNvGrpSpPr/>
          <p:nvPr userDrawn="1"/>
        </p:nvGrpSpPr>
        <p:grpSpPr>
          <a:xfrm>
            <a:off x="668518" y="328010"/>
            <a:ext cx="2046402" cy="661804"/>
            <a:chOff x="504825" y="327025"/>
            <a:chExt cx="2482851" cy="636440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9E1D151B-6C94-4522-BB26-F5E156E193C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l="8955" t="8651" r="74262" b="8651"/>
            <a:stretch/>
          </p:blipFill>
          <p:spPr>
            <a:xfrm>
              <a:off x="504825" y="327025"/>
              <a:ext cx="593725" cy="636440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B6968AC8-59A0-4DC1-B46A-7CBC2BBEA79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l="36206" t="8651" r="14969" b="8651"/>
            <a:stretch/>
          </p:blipFill>
          <p:spPr>
            <a:xfrm>
              <a:off x="1260475" y="327025"/>
              <a:ext cx="1727201" cy="6364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04124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6561"/>
            <a:ext cx="10515600" cy="1275909"/>
          </a:xfrm>
        </p:spPr>
        <p:txBody>
          <a:bodyPr/>
          <a:lstStyle>
            <a:lvl1pPr>
              <a:defRPr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32470"/>
            <a:ext cx="10515600" cy="4844493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p"/>
              <a:defRPr sz="2400"/>
            </a:lvl1pPr>
            <a:lvl2pPr marL="685800" indent="-228600">
              <a:buFont typeface="Wingdings" panose="05000000000000000000" pitchFamily="2" charset="2"/>
              <a:buChar char="Ø"/>
              <a:defRPr sz="2000"/>
            </a:lvl2pPr>
            <a:lvl3pPr marL="1143000" indent="-228600">
              <a:buFont typeface="Wingdings" panose="05000000000000000000" pitchFamily="2" charset="2"/>
              <a:buChar char="ü"/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6DD33078-7341-45CF-AEC4-043FFB36EE73}"/>
              </a:ext>
            </a:extLst>
          </p:cNvPr>
          <p:cNvGrpSpPr/>
          <p:nvPr userDrawn="1"/>
        </p:nvGrpSpPr>
        <p:grpSpPr>
          <a:xfrm>
            <a:off x="838200" y="6314032"/>
            <a:ext cx="1395392" cy="357686"/>
            <a:chOff x="504825" y="327025"/>
            <a:chExt cx="2482851" cy="636440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614D3DFB-8855-4AC9-BFEE-619DCA3C95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l="8955" t="8651" r="74262" b="8651"/>
            <a:stretch/>
          </p:blipFill>
          <p:spPr>
            <a:xfrm>
              <a:off x="504825" y="327025"/>
              <a:ext cx="593725" cy="636440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92CA3872-807E-4AC7-910F-78494A8AAE7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 l="36206" t="8651" r="14969" b="8651"/>
            <a:stretch/>
          </p:blipFill>
          <p:spPr>
            <a:xfrm>
              <a:off x="1260475" y="327025"/>
              <a:ext cx="1727201" cy="6364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29653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2B610-196D-4910-BC64-3669BB0A1267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C2D08-4013-46C5-A110-86729993D7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9059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2B610-196D-4910-BC64-3669BB0A1267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C2D08-4013-46C5-A110-86729993D7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8577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2B610-196D-4910-BC64-3669BB0A1267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C2D08-4013-46C5-A110-86729993D7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4787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2B610-196D-4910-BC64-3669BB0A1267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C2D08-4013-46C5-A110-86729993D7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683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2B610-196D-4910-BC64-3669BB0A1267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C2D08-4013-46C5-A110-86729993D7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853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2B610-196D-4910-BC64-3669BB0A1267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C2D08-4013-46C5-A110-86729993D7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7346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2B610-196D-4910-BC64-3669BB0A1267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C2D08-4013-46C5-A110-86729993D7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9404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2B610-196D-4910-BC64-3669BB0A1267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C2D08-4013-46C5-A110-86729993D7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009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2B610-196D-4910-BC64-3669BB0A1267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C2D08-4013-46C5-A110-86729993D7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5080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62B610-196D-4910-BC64-3669BB0A1267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C2D08-4013-46C5-A110-86729993D7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4308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gi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9.gif"/><Relationship Id="rId4" Type="http://schemas.openxmlformats.org/officeDocument/2006/relationships/image" Target="../media/image8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6.wmf"/><Relationship Id="rId4" Type="http://schemas.openxmlformats.org/officeDocument/2006/relationships/oleObject" Target="../embeddings/oleObject2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gi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gi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gi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gi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gi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gi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21" Type="http://schemas.openxmlformats.org/officeDocument/2006/relationships/image" Target="../media/image37.tmp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notesSlide" Target="../notesSlides/notesSlide8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slideLayout" Target="../slideLayouts/slideLayout7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tags" Target="../tags/tag31.xml"/><Relationship Id="rId18" Type="http://schemas.openxmlformats.org/officeDocument/2006/relationships/tags" Target="../tags/tag36.xml"/><Relationship Id="rId3" Type="http://schemas.openxmlformats.org/officeDocument/2006/relationships/tags" Target="../tags/tag21.xml"/><Relationship Id="rId21" Type="http://schemas.openxmlformats.org/officeDocument/2006/relationships/image" Target="../media/image37.tmp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17" Type="http://schemas.openxmlformats.org/officeDocument/2006/relationships/tags" Target="../tags/tag35.xml"/><Relationship Id="rId2" Type="http://schemas.openxmlformats.org/officeDocument/2006/relationships/tags" Target="../tags/tag20.xml"/><Relationship Id="rId16" Type="http://schemas.openxmlformats.org/officeDocument/2006/relationships/tags" Target="../tags/tag34.xml"/><Relationship Id="rId20" Type="http://schemas.openxmlformats.org/officeDocument/2006/relationships/notesSlide" Target="../notesSlides/notesSlide9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5" Type="http://schemas.openxmlformats.org/officeDocument/2006/relationships/tags" Target="../tags/tag33.xml"/><Relationship Id="rId10" Type="http://schemas.openxmlformats.org/officeDocument/2006/relationships/tags" Target="../tags/tag28.xml"/><Relationship Id="rId19" Type="http://schemas.openxmlformats.org/officeDocument/2006/relationships/slideLayout" Target="../slideLayouts/slideLayout7.xml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tags" Target="../tags/tag3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13" Type="http://schemas.openxmlformats.org/officeDocument/2006/relationships/tags" Target="../tags/tag49.xml"/><Relationship Id="rId18" Type="http://schemas.openxmlformats.org/officeDocument/2006/relationships/tags" Target="../tags/tag54.xml"/><Relationship Id="rId3" Type="http://schemas.openxmlformats.org/officeDocument/2006/relationships/tags" Target="../tags/tag39.xml"/><Relationship Id="rId21" Type="http://schemas.openxmlformats.org/officeDocument/2006/relationships/image" Target="../media/image37.tmp"/><Relationship Id="rId7" Type="http://schemas.openxmlformats.org/officeDocument/2006/relationships/tags" Target="../tags/tag43.xml"/><Relationship Id="rId12" Type="http://schemas.openxmlformats.org/officeDocument/2006/relationships/tags" Target="../tags/tag48.xml"/><Relationship Id="rId17" Type="http://schemas.openxmlformats.org/officeDocument/2006/relationships/tags" Target="../tags/tag53.xml"/><Relationship Id="rId2" Type="http://schemas.openxmlformats.org/officeDocument/2006/relationships/tags" Target="../tags/tag38.xml"/><Relationship Id="rId16" Type="http://schemas.openxmlformats.org/officeDocument/2006/relationships/tags" Target="../tags/tag52.xml"/><Relationship Id="rId20" Type="http://schemas.openxmlformats.org/officeDocument/2006/relationships/notesSlide" Target="../notesSlides/notesSlide10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tags" Target="../tags/tag47.xml"/><Relationship Id="rId5" Type="http://schemas.openxmlformats.org/officeDocument/2006/relationships/tags" Target="../tags/tag41.xml"/><Relationship Id="rId15" Type="http://schemas.openxmlformats.org/officeDocument/2006/relationships/tags" Target="../tags/tag51.xml"/><Relationship Id="rId10" Type="http://schemas.openxmlformats.org/officeDocument/2006/relationships/tags" Target="../tags/tag46.xml"/><Relationship Id="rId19" Type="http://schemas.openxmlformats.org/officeDocument/2006/relationships/slideLayout" Target="../slideLayouts/slideLayout7.xml"/><Relationship Id="rId4" Type="http://schemas.openxmlformats.org/officeDocument/2006/relationships/tags" Target="../tags/tag40.xml"/><Relationship Id="rId9" Type="http://schemas.openxmlformats.org/officeDocument/2006/relationships/tags" Target="../tags/tag45.xml"/><Relationship Id="rId14" Type="http://schemas.openxmlformats.org/officeDocument/2006/relationships/tags" Target="../tags/tag50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tags" Target="../tags/tag62.xml"/><Relationship Id="rId13" Type="http://schemas.openxmlformats.org/officeDocument/2006/relationships/tags" Target="../tags/tag67.xml"/><Relationship Id="rId18" Type="http://schemas.openxmlformats.org/officeDocument/2006/relationships/tags" Target="../tags/tag72.xml"/><Relationship Id="rId3" Type="http://schemas.openxmlformats.org/officeDocument/2006/relationships/tags" Target="../tags/tag57.xml"/><Relationship Id="rId21" Type="http://schemas.openxmlformats.org/officeDocument/2006/relationships/image" Target="../media/image37.tmp"/><Relationship Id="rId7" Type="http://schemas.openxmlformats.org/officeDocument/2006/relationships/tags" Target="../tags/tag61.xml"/><Relationship Id="rId12" Type="http://schemas.openxmlformats.org/officeDocument/2006/relationships/tags" Target="../tags/tag66.xml"/><Relationship Id="rId17" Type="http://schemas.openxmlformats.org/officeDocument/2006/relationships/tags" Target="../tags/tag71.xml"/><Relationship Id="rId2" Type="http://schemas.openxmlformats.org/officeDocument/2006/relationships/tags" Target="../tags/tag56.xml"/><Relationship Id="rId16" Type="http://schemas.openxmlformats.org/officeDocument/2006/relationships/tags" Target="../tags/tag70.xml"/><Relationship Id="rId20" Type="http://schemas.openxmlformats.org/officeDocument/2006/relationships/notesSlide" Target="../notesSlides/notesSlide11.xml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11" Type="http://schemas.openxmlformats.org/officeDocument/2006/relationships/tags" Target="../tags/tag65.xml"/><Relationship Id="rId5" Type="http://schemas.openxmlformats.org/officeDocument/2006/relationships/tags" Target="../tags/tag59.xml"/><Relationship Id="rId15" Type="http://schemas.openxmlformats.org/officeDocument/2006/relationships/tags" Target="../tags/tag69.xml"/><Relationship Id="rId10" Type="http://schemas.openxmlformats.org/officeDocument/2006/relationships/tags" Target="../tags/tag64.xml"/><Relationship Id="rId19" Type="http://schemas.openxmlformats.org/officeDocument/2006/relationships/slideLayout" Target="../slideLayouts/slideLayout7.xml"/><Relationship Id="rId4" Type="http://schemas.openxmlformats.org/officeDocument/2006/relationships/tags" Target="../tags/tag58.xml"/><Relationship Id="rId9" Type="http://schemas.openxmlformats.org/officeDocument/2006/relationships/tags" Target="../tags/tag63.xml"/><Relationship Id="rId14" Type="http://schemas.openxmlformats.org/officeDocument/2006/relationships/tags" Target="../tags/tag68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13" Type="http://schemas.openxmlformats.org/officeDocument/2006/relationships/tags" Target="../tags/tag85.xml"/><Relationship Id="rId18" Type="http://schemas.openxmlformats.org/officeDocument/2006/relationships/tags" Target="../tags/tag90.xml"/><Relationship Id="rId3" Type="http://schemas.openxmlformats.org/officeDocument/2006/relationships/tags" Target="../tags/tag75.xml"/><Relationship Id="rId21" Type="http://schemas.openxmlformats.org/officeDocument/2006/relationships/image" Target="../media/image37.tmp"/><Relationship Id="rId7" Type="http://schemas.openxmlformats.org/officeDocument/2006/relationships/tags" Target="../tags/tag79.xml"/><Relationship Id="rId12" Type="http://schemas.openxmlformats.org/officeDocument/2006/relationships/tags" Target="../tags/tag84.xml"/><Relationship Id="rId17" Type="http://schemas.openxmlformats.org/officeDocument/2006/relationships/tags" Target="../tags/tag89.xml"/><Relationship Id="rId2" Type="http://schemas.openxmlformats.org/officeDocument/2006/relationships/tags" Target="../tags/tag74.xml"/><Relationship Id="rId16" Type="http://schemas.openxmlformats.org/officeDocument/2006/relationships/tags" Target="../tags/tag88.xml"/><Relationship Id="rId20" Type="http://schemas.openxmlformats.org/officeDocument/2006/relationships/notesSlide" Target="../notesSlides/notesSlide12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11" Type="http://schemas.openxmlformats.org/officeDocument/2006/relationships/tags" Target="../tags/tag83.xml"/><Relationship Id="rId5" Type="http://schemas.openxmlformats.org/officeDocument/2006/relationships/tags" Target="../tags/tag77.xml"/><Relationship Id="rId15" Type="http://schemas.openxmlformats.org/officeDocument/2006/relationships/tags" Target="../tags/tag87.xml"/><Relationship Id="rId10" Type="http://schemas.openxmlformats.org/officeDocument/2006/relationships/tags" Target="../tags/tag82.xml"/><Relationship Id="rId19" Type="http://schemas.openxmlformats.org/officeDocument/2006/relationships/slideLayout" Target="../slideLayouts/slideLayout7.xml"/><Relationship Id="rId4" Type="http://schemas.openxmlformats.org/officeDocument/2006/relationships/tags" Target="../tags/tag76.xml"/><Relationship Id="rId9" Type="http://schemas.openxmlformats.org/officeDocument/2006/relationships/tags" Target="../tags/tag81.xml"/><Relationship Id="rId14" Type="http://schemas.openxmlformats.org/officeDocument/2006/relationships/tags" Target="../tags/tag8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3E8CF431-9287-4E26-BD87-7A60A2CA4B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err="1" smtClean="0"/>
              <a:t>Guangyao</a:t>
            </a:r>
            <a:r>
              <a:rPr lang="en-US" altLang="zh-CN" dirty="0" smtClean="0"/>
              <a:t> Zhou</a:t>
            </a:r>
            <a:endParaRPr lang="en-US" altLang="zh-CN" dirty="0"/>
          </a:p>
          <a:p>
            <a:r>
              <a:rPr lang="en-US" altLang="zh-CN" dirty="0" smtClean="0"/>
              <a:t>guangyao_zhou@swjtu.edu.cn</a:t>
            </a:r>
            <a:endParaRPr lang="zh-CN" altLang="en-US" dirty="0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23D0DDCD-8ACF-4E12-A6DD-B54A7EB3C7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3039" y="2790955"/>
            <a:ext cx="11387579" cy="1080992"/>
          </a:xfrm>
        </p:spPr>
        <p:txBody>
          <a:bodyPr/>
          <a:lstStyle/>
          <a:p>
            <a:r>
              <a:rPr lang="en-US" altLang="zh-CN" dirty="0"/>
              <a:t>Operating System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98639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I/O management and Disk scheduling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Categories of I/O </a:t>
            </a:r>
            <a:r>
              <a:rPr lang="en-US" altLang="zh-CN" dirty="0" smtClean="0"/>
              <a:t>Devices</a:t>
            </a:r>
          </a:p>
          <a:p>
            <a:r>
              <a:rPr lang="en-US" altLang="zh-CN" dirty="0" smtClean="0"/>
              <a:t> Organization </a:t>
            </a:r>
            <a:r>
              <a:rPr lang="en-US" altLang="zh-CN" dirty="0"/>
              <a:t>of the I/O </a:t>
            </a:r>
            <a:r>
              <a:rPr lang="en-US" altLang="zh-CN" dirty="0" smtClean="0"/>
              <a:t>Function</a:t>
            </a:r>
          </a:p>
          <a:p>
            <a:r>
              <a:rPr lang="en-US" altLang="zh-CN" dirty="0" smtClean="0"/>
              <a:t> Design Objectives</a:t>
            </a:r>
          </a:p>
          <a:p>
            <a:r>
              <a:rPr lang="en-US" altLang="zh-CN" dirty="0" smtClean="0"/>
              <a:t> Buffering</a:t>
            </a:r>
          </a:p>
          <a:p>
            <a:r>
              <a:rPr lang="en-US" altLang="zh-CN" dirty="0" smtClean="0"/>
              <a:t> Disk Scheduling</a:t>
            </a:r>
          </a:p>
          <a:p>
            <a:r>
              <a:rPr lang="en-US" altLang="zh-CN" dirty="0" smtClean="0"/>
              <a:t>Disk Cache</a:t>
            </a:r>
          </a:p>
          <a:p>
            <a:r>
              <a:rPr lang="en-US" altLang="zh-CN" dirty="0" smtClean="0"/>
              <a:t>RAID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1609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Categories of I/O Devices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External devices that engage in I/O with computer systems can be grouped into three categories:</a:t>
            </a:r>
          </a:p>
          <a:p>
            <a:pPr lvl="1"/>
            <a:r>
              <a:rPr lang="en-US" altLang="zh-CN" dirty="0"/>
              <a:t>Human readable</a:t>
            </a:r>
          </a:p>
          <a:p>
            <a:pPr lvl="2"/>
            <a:r>
              <a:rPr lang="en-US" altLang="zh-CN" dirty="0"/>
              <a:t>suitable for communicating with the computer user</a:t>
            </a:r>
          </a:p>
          <a:p>
            <a:pPr lvl="2"/>
            <a:r>
              <a:rPr lang="en-US" altLang="zh-CN" dirty="0"/>
              <a:t>printers, terminals, video display, keyboard, mouse</a:t>
            </a:r>
          </a:p>
          <a:p>
            <a:pPr lvl="1"/>
            <a:r>
              <a:rPr lang="en-US" altLang="zh-CN" dirty="0"/>
              <a:t>Machine readable</a:t>
            </a:r>
          </a:p>
          <a:p>
            <a:pPr lvl="2"/>
            <a:r>
              <a:rPr lang="en-US" altLang="zh-CN" dirty="0"/>
              <a:t>suitable for communicating with electronic equipment</a:t>
            </a:r>
          </a:p>
          <a:p>
            <a:pPr lvl="2"/>
            <a:r>
              <a:rPr lang="en-US" altLang="zh-CN" dirty="0"/>
              <a:t>disk drives, USB keys, sensors, controllers</a:t>
            </a:r>
          </a:p>
          <a:p>
            <a:pPr lvl="1"/>
            <a:r>
              <a:rPr lang="en-US" altLang="zh-CN" dirty="0"/>
              <a:t>Communication</a:t>
            </a:r>
          </a:p>
          <a:p>
            <a:pPr lvl="2"/>
            <a:r>
              <a:rPr lang="en-US" altLang="zh-CN" dirty="0"/>
              <a:t>suitable for communicating with remote devices</a:t>
            </a:r>
          </a:p>
          <a:p>
            <a:pPr lvl="2"/>
            <a:r>
              <a:rPr lang="en-US" altLang="zh-CN" dirty="0"/>
              <a:t>modems, digital line drivers</a:t>
            </a:r>
          </a:p>
          <a:p>
            <a:pPr lvl="2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7661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Differences in I/O Devices</a:t>
            </a:r>
            <a:endParaRPr lang="zh-CN" altLang="en-US" dirty="0"/>
          </a:p>
        </p:txBody>
      </p:sp>
      <p:pic>
        <p:nvPicPr>
          <p:cNvPr id="4" name="Content Placeholder 3" descr="Fig11_01.gif">
            <a:extLst>
              <a:ext uri="{FF2B5EF4-FFF2-40B4-BE49-F238E27FC236}">
                <a16:creationId xmlns:a16="http://schemas.microsoft.com/office/drawing/2014/main" id="{AB74C52F-384A-4632-BF2B-3B94BB32A5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332787" y="1181785"/>
            <a:ext cx="7897524" cy="55533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10081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E5C18C-AEF1-40D3-902C-C2740599F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Organization of the I/O Function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EEB39F-5218-42AC-B0C0-BF80D1203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Programmed I/O</a:t>
            </a:r>
          </a:p>
          <a:p>
            <a:pPr lvl="1"/>
            <a:r>
              <a:rPr lang="en-US" altLang="zh-CN" dirty="0"/>
              <a:t>the processor issues an I/O command on behalf of a process to an I/O module;</a:t>
            </a:r>
          </a:p>
          <a:p>
            <a:pPr lvl="1"/>
            <a:r>
              <a:rPr lang="en-US" altLang="zh-CN" dirty="0"/>
              <a:t>that process then busy waits for the operation to be completed before proceeding</a:t>
            </a:r>
          </a:p>
          <a:p>
            <a:r>
              <a:rPr lang="en-US" altLang="zh-CN" dirty="0"/>
              <a:t>Interrupt-driven I/O</a:t>
            </a:r>
          </a:p>
          <a:p>
            <a:pPr lvl="1"/>
            <a:r>
              <a:rPr lang="en-US" altLang="zh-CN" dirty="0"/>
              <a:t>the processor issues an I/O command on behalf of a process</a:t>
            </a:r>
          </a:p>
          <a:p>
            <a:pPr lvl="1"/>
            <a:r>
              <a:rPr lang="en-US" altLang="zh-CN" dirty="0"/>
              <a:t>non-blocking VS blocking </a:t>
            </a:r>
          </a:p>
          <a:p>
            <a:r>
              <a:rPr lang="en-US" altLang="zh-CN" dirty="0"/>
              <a:t>Direct Memory Access (DMA)</a:t>
            </a:r>
          </a:p>
          <a:p>
            <a:pPr lvl="1"/>
            <a:r>
              <a:rPr lang="en-US" altLang="zh-CN" dirty="0"/>
              <a:t>a DMA module controls the exchange of data between main memory and an I/O module</a:t>
            </a:r>
            <a:endParaRPr lang="zh-CN" altLang="en-US" dirty="0"/>
          </a:p>
        </p:txBody>
      </p:sp>
      <p:pic>
        <p:nvPicPr>
          <p:cNvPr id="4" name="Content Placeholder 3" descr="Table11_01.gif">
            <a:extLst>
              <a:ext uri="{FF2B5EF4-FFF2-40B4-BE49-F238E27FC236}">
                <a16:creationId xmlns:a16="http://schemas.microsoft.com/office/drawing/2014/main" id="{741D7B2A-6C53-4087-B153-F7D0E952E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93572" y="4297118"/>
            <a:ext cx="5900057" cy="2560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/>
          <p:nvPr/>
        </p:nvSpPr>
        <p:spPr>
          <a:xfrm>
            <a:off x="4011562" y="1201039"/>
            <a:ext cx="4562168" cy="4719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rgbClr val="0070C0"/>
                </a:solidFill>
              </a:rPr>
              <a:t>CPU check the </a:t>
            </a:r>
            <a:r>
              <a:rPr lang="en-US" altLang="zh-CN" dirty="0">
                <a:solidFill>
                  <a:srgbClr val="0070C0"/>
                </a:solidFill>
              </a:rPr>
              <a:t>status of I/O </a:t>
            </a:r>
            <a:r>
              <a:rPr lang="en-US" altLang="zh-CN" dirty="0" smtClean="0">
                <a:solidFill>
                  <a:srgbClr val="0070C0"/>
                </a:solidFill>
              </a:rPr>
              <a:t>continuously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4011562" y="2408560"/>
            <a:ext cx="6823586" cy="4719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70C0"/>
                </a:solidFill>
              </a:rPr>
              <a:t>After the CPU starts the I/O operation, </a:t>
            </a:r>
            <a:r>
              <a:rPr lang="en-US" altLang="zh-CN" dirty="0" smtClean="0">
                <a:solidFill>
                  <a:srgbClr val="0070C0"/>
                </a:solidFill>
              </a:rPr>
              <a:t>it can proceed </a:t>
            </a:r>
            <a:r>
              <a:rPr lang="en-US" altLang="zh-CN" dirty="0">
                <a:solidFill>
                  <a:srgbClr val="0070C0"/>
                </a:solidFill>
              </a:rPr>
              <a:t>to </a:t>
            </a:r>
            <a:r>
              <a:rPr lang="en-US" altLang="zh-CN" dirty="0" smtClean="0">
                <a:solidFill>
                  <a:srgbClr val="0070C0"/>
                </a:solidFill>
              </a:rPr>
              <a:t>execute </a:t>
            </a:r>
            <a:r>
              <a:rPr lang="en-US" altLang="zh-CN" dirty="0">
                <a:solidFill>
                  <a:srgbClr val="0070C0"/>
                </a:solidFill>
              </a:rPr>
              <a:t>other tasks until the I/O sends an interrupt signal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4871884" y="3518741"/>
            <a:ext cx="6823586" cy="4719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rgbClr val="0070C0"/>
                </a:solidFill>
              </a:rPr>
              <a:t>DMA replace CPU to control the data transfer</a:t>
            </a:r>
            <a:endParaRPr lang="zh-CN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1546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Evolution of the I/O Function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ea"/>
              <a:buAutoNum type="circleNumDbPlain"/>
            </a:pPr>
            <a:r>
              <a:rPr lang="en-US" altLang="zh-CN" dirty="0"/>
              <a:t>Processor directly controls a peripheral </a:t>
            </a:r>
            <a:r>
              <a:rPr lang="en-US" altLang="zh-CN" dirty="0" smtClean="0"/>
              <a:t>device (</a:t>
            </a:r>
            <a:r>
              <a:rPr lang="zh-CN" altLang="en-US" dirty="0" smtClean="0"/>
              <a:t>外围设备</a:t>
            </a:r>
            <a:r>
              <a:rPr lang="en-US" altLang="zh-CN" dirty="0" smtClean="0"/>
              <a:t>)</a:t>
            </a:r>
            <a:endParaRPr lang="en-US" altLang="zh-CN" dirty="0"/>
          </a:p>
          <a:p>
            <a:pPr marL="457200" indent="-457200">
              <a:buFont typeface="+mj-ea"/>
              <a:buAutoNum type="circleNumDbPlain"/>
            </a:pPr>
            <a:r>
              <a:rPr lang="en-US" altLang="zh-CN" dirty="0"/>
              <a:t>A </a:t>
            </a:r>
            <a:r>
              <a:rPr lang="en-US" altLang="zh-CN" dirty="0">
                <a:solidFill>
                  <a:srgbClr val="0070C0"/>
                </a:solidFill>
              </a:rPr>
              <a:t>controller</a:t>
            </a:r>
            <a:r>
              <a:rPr lang="en-US" altLang="zh-CN" dirty="0"/>
              <a:t> or I/O module is added</a:t>
            </a:r>
          </a:p>
          <a:p>
            <a:pPr marL="457200" indent="-457200">
              <a:buFont typeface="+mj-ea"/>
              <a:buAutoNum type="circleNumDbPlain"/>
            </a:pPr>
            <a:r>
              <a:rPr lang="en-US" altLang="zh-CN" dirty="0"/>
              <a:t>Same configuration as step 2, but now </a:t>
            </a:r>
            <a:r>
              <a:rPr lang="en-US" altLang="zh-CN" dirty="0">
                <a:solidFill>
                  <a:srgbClr val="0070C0"/>
                </a:solidFill>
              </a:rPr>
              <a:t>interrupts</a:t>
            </a:r>
            <a:r>
              <a:rPr lang="en-US" altLang="zh-CN" dirty="0"/>
              <a:t> are employed</a:t>
            </a:r>
          </a:p>
          <a:p>
            <a:pPr marL="457200" indent="-457200">
              <a:buFont typeface="+mj-ea"/>
              <a:buAutoNum type="circleNumDbPlain"/>
            </a:pPr>
            <a:r>
              <a:rPr lang="en-US" altLang="zh-CN" dirty="0"/>
              <a:t>The </a:t>
            </a:r>
            <a:r>
              <a:rPr lang="en-US" altLang="zh-CN" dirty="0">
                <a:solidFill>
                  <a:srgbClr val="0070C0"/>
                </a:solidFill>
              </a:rPr>
              <a:t>I/O module</a:t>
            </a:r>
            <a:r>
              <a:rPr lang="en-US" altLang="zh-CN" dirty="0"/>
              <a:t> is given direct control of memory via </a:t>
            </a:r>
            <a:r>
              <a:rPr lang="en-US" altLang="zh-CN" dirty="0">
                <a:solidFill>
                  <a:srgbClr val="0070C0"/>
                </a:solidFill>
              </a:rPr>
              <a:t>DMA</a:t>
            </a:r>
            <a:r>
              <a:rPr lang="zh-CN" altLang="en-US" dirty="0">
                <a:solidFill>
                  <a:srgbClr val="0070C0"/>
                </a:solidFill>
              </a:rPr>
              <a:t>（直接存储访问器）</a:t>
            </a:r>
            <a:endParaRPr lang="en-US" altLang="zh-CN" dirty="0">
              <a:solidFill>
                <a:srgbClr val="0070C0"/>
              </a:solidFill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zh-CN" dirty="0"/>
              <a:t>The I/O module is enhanced to become a separate processor, with a specialized </a:t>
            </a:r>
            <a:r>
              <a:rPr lang="en-US" altLang="zh-CN" dirty="0">
                <a:solidFill>
                  <a:srgbClr val="0070C0"/>
                </a:solidFill>
              </a:rPr>
              <a:t>instruction set </a:t>
            </a:r>
            <a:r>
              <a:rPr lang="en-US" altLang="zh-CN" dirty="0"/>
              <a:t>tailored for I/O                   </a:t>
            </a:r>
            <a:r>
              <a:rPr lang="en-US" altLang="zh-CN" dirty="0" err="1">
                <a:solidFill>
                  <a:srgbClr val="C00000"/>
                </a:solidFill>
              </a:rPr>
              <a:t>I/O</a:t>
            </a:r>
            <a:r>
              <a:rPr lang="en-US" altLang="zh-CN" dirty="0">
                <a:solidFill>
                  <a:srgbClr val="C00000"/>
                </a:solidFill>
              </a:rPr>
              <a:t> channel </a:t>
            </a:r>
            <a:r>
              <a:rPr lang="zh-CN" altLang="en-US" dirty="0">
                <a:solidFill>
                  <a:srgbClr val="C00000"/>
                </a:solidFill>
              </a:rPr>
              <a:t>（</a:t>
            </a:r>
            <a:r>
              <a:rPr lang="en-US" altLang="zh-CN" dirty="0">
                <a:solidFill>
                  <a:srgbClr val="C00000"/>
                </a:solidFill>
              </a:rPr>
              <a:t>I/O</a:t>
            </a:r>
            <a:r>
              <a:rPr lang="zh-CN" altLang="en-US" dirty="0">
                <a:solidFill>
                  <a:srgbClr val="C00000"/>
                </a:solidFill>
              </a:rPr>
              <a:t>通道）</a:t>
            </a:r>
            <a:endParaRPr lang="en-US" altLang="zh-CN" dirty="0">
              <a:solidFill>
                <a:srgbClr val="C00000"/>
              </a:solidFill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zh-CN" dirty="0"/>
              <a:t>The I/O module has a local </a:t>
            </a:r>
            <a:r>
              <a:rPr lang="en-US" altLang="zh-CN" dirty="0">
                <a:solidFill>
                  <a:srgbClr val="0070C0"/>
                </a:solidFill>
              </a:rPr>
              <a:t>memory</a:t>
            </a:r>
            <a:r>
              <a:rPr lang="en-US" altLang="zh-CN" dirty="0"/>
              <a:t> of its own and is, in fact, a computer in its own right                                                       </a:t>
            </a:r>
            <a:r>
              <a:rPr lang="en-US" altLang="zh-CN" dirty="0">
                <a:solidFill>
                  <a:srgbClr val="C00000"/>
                </a:solidFill>
              </a:rPr>
              <a:t>I/O processor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8707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Design Objectives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</a:rPr>
              <a:t>Efficiency</a:t>
            </a:r>
          </a:p>
          <a:p>
            <a:pPr lvl="1"/>
            <a:r>
              <a:rPr lang="en-US" altLang="zh-CN" dirty="0"/>
              <a:t>Major effort in I/O design</a:t>
            </a:r>
          </a:p>
          <a:p>
            <a:pPr lvl="1"/>
            <a:r>
              <a:rPr lang="en-US" altLang="zh-CN" dirty="0"/>
              <a:t>Important because I/O operations often form a </a:t>
            </a:r>
            <a:r>
              <a:rPr lang="en-US" altLang="zh-CN" dirty="0">
                <a:solidFill>
                  <a:srgbClr val="C00000"/>
                </a:solidFill>
              </a:rPr>
              <a:t>bottleneck</a:t>
            </a:r>
          </a:p>
          <a:p>
            <a:pPr lvl="1"/>
            <a:r>
              <a:rPr lang="en-US" altLang="zh-CN" dirty="0"/>
              <a:t>Most I/O devices are extremely slow compared with main memory and the processor</a:t>
            </a:r>
          </a:p>
          <a:p>
            <a:pPr lvl="1"/>
            <a:r>
              <a:rPr lang="en-US" altLang="zh-CN" dirty="0"/>
              <a:t>The area that has received the most attention is </a:t>
            </a:r>
            <a:r>
              <a:rPr lang="en-US" altLang="zh-CN" dirty="0">
                <a:solidFill>
                  <a:srgbClr val="0070C0"/>
                </a:solidFill>
              </a:rPr>
              <a:t>disk I/O</a:t>
            </a:r>
          </a:p>
          <a:p>
            <a:pPr lvl="1"/>
            <a:endParaRPr lang="en-US" altLang="zh-CN" dirty="0">
              <a:solidFill>
                <a:srgbClr val="0070C0"/>
              </a:solidFill>
            </a:endParaRPr>
          </a:p>
          <a:p>
            <a:r>
              <a:rPr lang="en-US" altLang="zh-CN" dirty="0" smtClean="0">
                <a:solidFill>
                  <a:srgbClr val="0070C0"/>
                </a:solidFill>
              </a:rPr>
              <a:t>Generality</a:t>
            </a:r>
            <a:r>
              <a:rPr lang="zh-CN" altLang="en-US" dirty="0" smtClean="0">
                <a:solidFill>
                  <a:srgbClr val="0070C0"/>
                </a:solidFill>
              </a:rPr>
              <a:t>（通用性）</a:t>
            </a:r>
            <a:endParaRPr lang="en-US" altLang="zh-CN" dirty="0">
              <a:solidFill>
                <a:srgbClr val="0070C0"/>
              </a:solidFill>
            </a:endParaRPr>
          </a:p>
          <a:p>
            <a:pPr lvl="1"/>
            <a:r>
              <a:rPr lang="en-US" altLang="zh-CN" dirty="0"/>
              <a:t>Desirable to handle all devices in a </a:t>
            </a:r>
            <a:r>
              <a:rPr lang="en-US" altLang="zh-CN" dirty="0">
                <a:solidFill>
                  <a:srgbClr val="0070C0"/>
                </a:solidFill>
              </a:rPr>
              <a:t>uniform</a:t>
            </a:r>
            <a:r>
              <a:rPr lang="en-US" altLang="zh-CN" dirty="0"/>
              <a:t> manner</a:t>
            </a:r>
          </a:p>
          <a:p>
            <a:pPr lvl="2"/>
            <a:r>
              <a:rPr lang="en-US" altLang="zh-CN" dirty="0"/>
              <a:t>the way processes view I/O devices </a:t>
            </a:r>
          </a:p>
          <a:p>
            <a:pPr lvl="2"/>
            <a:r>
              <a:rPr lang="en-US" altLang="zh-CN" dirty="0"/>
              <a:t>the way the operating system manages I/O devices and operations</a:t>
            </a:r>
          </a:p>
          <a:p>
            <a:pPr lvl="1"/>
            <a:r>
              <a:rPr lang="en-US" altLang="zh-CN" dirty="0"/>
              <a:t>Diversity of devices makes it difficult to achieve true generality</a:t>
            </a:r>
          </a:p>
          <a:p>
            <a:pPr lvl="1"/>
            <a:r>
              <a:rPr lang="en-US" altLang="zh-CN" dirty="0"/>
              <a:t>Use </a:t>
            </a:r>
            <a:r>
              <a:rPr lang="en-US" altLang="zh-CN" dirty="0">
                <a:solidFill>
                  <a:srgbClr val="C00000"/>
                </a:solidFill>
              </a:rPr>
              <a:t>a hierarchical, modular approach </a:t>
            </a:r>
            <a:r>
              <a:rPr lang="en-US" altLang="zh-CN" dirty="0"/>
              <a:t>to the design of the I/O </a:t>
            </a:r>
            <a:r>
              <a:rPr lang="en-US" altLang="zh-CN" dirty="0" smtClean="0"/>
              <a:t>function</a:t>
            </a:r>
          </a:p>
          <a:p>
            <a:pPr marL="457200" lvl="1" indent="0">
              <a:buNone/>
            </a:pPr>
            <a:r>
              <a:rPr lang="en-US" altLang="zh-CN" dirty="0">
                <a:sym typeface="Wingdings" panose="05000000000000000000" pitchFamily="2" charset="2"/>
              </a:rPr>
              <a:t>	</a:t>
            </a:r>
            <a:r>
              <a:rPr lang="en-US" altLang="zh-CN" dirty="0" smtClean="0">
                <a:sym typeface="Wingdings" panose="05000000000000000000" pitchFamily="2" charset="2"/>
              </a:rPr>
              <a:t></a:t>
            </a:r>
            <a:r>
              <a:rPr lang="en-US" altLang="zh-CN" dirty="0" smtClean="0">
                <a:solidFill>
                  <a:srgbClr val="0070C0"/>
                </a:solidFill>
                <a:sym typeface="Wingdings" panose="05000000000000000000" pitchFamily="2" charset="2"/>
              </a:rPr>
              <a:t>uniform function: read, write, open, close, lock, unlock</a:t>
            </a:r>
            <a:endParaRPr lang="en-US" altLang="zh-CN" dirty="0">
              <a:solidFill>
                <a:srgbClr val="0070C0"/>
              </a:solidFill>
            </a:endParaRPr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46683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Model of I/O Organization</a:t>
            </a:r>
            <a:endParaRPr lang="zh-CN" altLang="en-US" dirty="0"/>
          </a:p>
        </p:txBody>
      </p:sp>
      <p:pic>
        <p:nvPicPr>
          <p:cNvPr id="4" name="Content Placeholder 3" descr="Fig11_04a.gif">
            <a:extLst>
              <a:ext uri="{FF2B5EF4-FFF2-40B4-BE49-F238E27FC236}">
                <a16:creationId xmlns:a16="http://schemas.microsoft.com/office/drawing/2014/main" id="{5559AD05-C07F-46B3-8F62-7BCF58087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1262418"/>
            <a:ext cx="1524000" cy="5103260"/>
          </a:xfrm>
          <a:prstGeom prst="rect">
            <a:avLst/>
          </a:prstGeom>
        </p:spPr>
      </p:pic>
      <p:pic>
        <p:nvPicPr>
          <p:cNvPr id="5" name="Picture 4" descr="Fig11_04b.gif">
            <a:extLst>
              <a:ext uri="{FF2B5EF4-FFF2-40B4-BE49-F238E27FC236}">
                <a16:creationId xmlns:a16="http://schemas.microsoft.com/office/drawing/2014/main" id="{FA2BBD29-CA8F-46C2-87B4-D4579A487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3112" y="1228291"/>
            <a:ext cx="1447800" cy="5133975"/>
          </a:xfrm>
          <a:prstGeom prst="rect">
            <a:avLst/>
          </a:prstGeom>
        </p:spPr>
      </p:pic>
      <p:pic>
        <p:nvPicPr>
          <p:cNvPr id="6" name="Picture 5" descr="Fig11_04c.gif">
            <a:extLst>
              <a:ext uri="{FF2B5EF4-FFF2-40B4-BE49-F238E27FC236}">
                <a16:creationId xmlns:a16="http://schemas.microsoft.com/office/drawing/2014/main" id="{F34FD65C-815A-45A2-ADE9-7E90CD8877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591" y="1228291"/>
            <a:ext cx="1524000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174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Buffering </a:t>
            </a:r>
            <a:r>
              <a:rPr lang="zh-CN" altLang="en-US" dirty="0"/>
              <a:t>（缓冲）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No Buffer</a:t>
            </a:r>
          </a:p>
          <a:p>
            <a:pPr lvl="1"/>
            <a:r>
              <a:rPr lang="en-US" altLang="zh-CN" dirty="0"/>
              <a:t>Without a buffer, the OS directly accesses the device when it needs</a:t>
            </a:r>
          </a:p>
          <a:p>
            <a:pPr lvl="1"/>
            <a:r>
              <a:rPr lang="en-US" altLang="zh-CN" dirty="0"/>
              <a:t>Disadvantage: </a:t>
            </a:r>
            <a:r>
              <a:rPr lang="en-US" altLang="zh-CN" dirty="0" smtClean="0"/>
              <a:t>block/swap&lt;</a:t>
            </a:r>
            <a:r>
              <a:rPr lang="en-US" altLang="zh-CN" dirty="0" smtClean="0">
                <a:sym typeface="Wingdings" panose="05000000000000000000" pitchFamily="2" charset="2"/>
              </a:rPr>
              <a:t>--busy waiting (check the status </a:t>
            </a:r>
            <a:r>
              <a:rPr lang="en-US" altLang="zh-CN" dirty="0">
                <a:sym typeface="Wingdings" panose="05000000000000000000" pitchFamily="2" charset="2"/>
              </a:rPr>
              <a:t>of device continuously)</a:t>
            </a:r>
            <a:endParaRPr lang="en-US" altLang="zh-CN" dirty="0"/>
          </a:p>
          <a:p>
            <a:pPr marL="457200" lvl="1" indent="0">
              <a:buNone/>
            </a:pPr>
            <a:endParaRPr lang="zh-CN" altLang="en-US" dirty="0"/>
          </a:p>
        </p:txBody>
      </p:sp>
      <p:pic>
        <p:nvPicPr>
          <p:cNvPr id="4" name="Content Placeholder 3" descr="Fig11_05a.gif">
            <a:extLst>
              <a:ext uri="{FF2B5EF4-FFF2-40B4-BE49-F238E27FC236}">
                <a16:creationId xmlns:a16="http://schemas.microsoft.com/office/drawing/2014/main" id="{7942F73E-FE8F-4B66-81A9-FF64563E3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99314" y="2846695"/>
            <a:ext cx="7953531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06027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Buffering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</a:rPr>
              <a:t>Perform input transfers in advance of requests being made and perform output transfers some time after the request is made</a:t>
            </a:r>
          </a:p>
          <a:p>
            <a:r>
              <a:rPr lang="en-US" altLang="zh-CN" dirty="0"/>
              <a:t>Block-oriented </a:t>
            </a:r>
            <a:r>
              <a:rPr lang="en-US" altLang="zh-CN" dirty="0" smtClean="0"/>
              <a:t>device</a:t>
            </a:r>
            <a:r>
              <a:rPr lang="zh-CN" altLang="en-US" dirty="0" smtClean="0"/>
              <a:t>（面向块的设备）</a:t>
            </a:r>
            <a:endParaRPr lang="en-US" altLang="zh-CN" dirty="0"/>
          </a:p>
          <a:p>
            <a:pPr lvl="1"/>
            <a:r>
              <a:rPr lang="en-US" altLang="zh-CN" dirty="0"/>
              <a:t>stores information in </a:t>
            </a:r>
            <a:r>
              <a:rPr lang="en-US" altLang="zh-CN" dirty="0">
                <a:solidFill>
                  <a:srgbClr val="C00000"/>
                </a:solidFill>
              </a:rPr>
              <a:t>blocks</a:t>
            </a:r>
            <a:r>
              <a:rPr lang="en-US" altLang="zh-CN" dirty="0"/>
              <a:t> that are usually of fixed size</a:t>
            </a:r>
          </a:p>
          <a:p>
            <a:pPr lvl="1"/>
            <a:r>
              <a:rPr lang="en-US" altLang="zh-CN" dirty="0"/>
              <a:t>transfers are made one block at a time</a:t>
            </a:r>
          </a:p>
          <a:p>
            <a:pPr lvl="1"/>
            <a:r>
              <a:rPr lang="en-US" altLang="zh-CN" dirty="0"/>
              <a:t>possible to reference data by </a:t>
            </a:r>
            <a:r>
              <a:rPr lang="en-US" altLang="zh-CN" dirty="0">
                <a:solidFill>
                  <a:srgbClr val="C00000"/>
                </a:solidFill>
              </a:rPr>
              <a:t>its block number</a:t>
            </a:r>
          </a:p>
          <a:p>
            <a:pPr lvl="1"/>
            <a:r>
              <a:rPr lang="en-US" altLang="zh-CN" dirty="0"/>
              <a:t>disks and USB keys are examples</a:t>
            </a:r>
          </a:p>
          <a:p>
            <a:r>
              <a:rPr lang="en-US" altLang="zh-CN" dirty="0"/>
              <a:t>Stream-oriented </a:t>
            </a:r>
            <a:r>
              <a:rPr lang="en-US" altLang="zh-CN" dirty="0" smtClean="0"/>
              <a:t>device</a:t>
            </a:r>
            <a:r>
              <a:rPr lang="zh-CN" altLang="en-US" dirty="0" smtClean="0"/>
              <a:t>（面向流的设备）</a:t>
            </a:r>
            <a:endParaRPr lang="en-US" altLang="zh-CN" dirty="0"/>
          </a:p>
          <a:p>
            <a:pPr lvl="1"/>
            <a:r>
              <a:rPr lang="en-US" altLang="zh-CN" dirty="0"/>
              <a:t>transfers data in and out as a stream of </a:t>
            </a:r>
            <a:r>
              <a:rPr lang="en-US" altLang="zh-CN" dirty="0">
                <a:solidFill>
                  <a:srgbClr val="C00000"/>
                </a:solidFill>
              </a:rPr>
              <a:t>bytes</a:t>
            </a:r>
          </a:p>
          <a:p>
            <a:pPr lvl="1"/>
            <a:r>
              <a:rPr lang="en-US" altLang="zh-CN" dirty="0"/>
              <a:t>no block structure</a:t>
            </a:r>
          </a:p>
          <a:p>
            <a:pPr lvl="1"/>
            <a:r>
              <a:rPr lang="en-US" altLang="zh-CN" dirty="0"/>
              <a:t>terminals, printers, communications ports, and most other devices that are </a:t>
            </a:r>
            <a:r>
              <a:rPr lang="en-US" altLang="zh-CN" dirty="0">
                <a:solidFill>
                  <a:srgbClr val="C00000"/>
                </a:solidFill>
              </a:rPr>
              <a:t>not secondary storage</a:t>
            </a:r>
            <a:r>
              <a:rPr lang="en-US" altLang="zh-CN" dirty="0"/>
              <a:t> are examples</a:t>
            </a:r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42105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Single Buffer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Operating system assigns a buffer in main memory for an I/O request</a:t>
            </a:r>
          </a:p>
          <a:p>
            <a:r>
              <a:rPr lang="en-US" altLang="zh-CN" dirty="0"/>
              <a:t>Producer/customer</a:t>
            </a:r>
          </a:p>
          <a:p>
            <a:pPr marL="0" indent="0">
              <a:buNone/>
            </a:pPr>
            <a:endParaRPr lang="en-US" altLang="zh-CN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1E06E40-E627-4C60-8462-8DB50F63C4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6967906"/>
              </p:ext>
            </p:extLst>
          </p:nvPr>
        </p:nvGraphicFramePr>
        <p:xfrm>
          <a:off x="887105" y="1258458"/>
          <a:ext cx="1905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2" name="Equation" r:id="rId3" imgW="952200" imgH="203040" progId="Equation.DSMT4">
                  <p:embed/>
                </p:oleObj>
              </mc:Choice>
              <mc:Fallback>
                <p:oleObj name="Equation" r:id="rId3" imgW="952200" imgH="203040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7105" y="1258458"/>
                        <a:ext cx="19050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3" descr="Fig11_05b.gif">
            <a:extLst>
              <a:ext uri="{FF2B5EF4-FFF2-40B4-BE49-F238E27FC236}">
                <a16:creationId xmlns:a16="http://schemas.microsoft.com/office/drawing/2014/main" id="{E31B5597-252B-4211-8238-4A0130BD80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5943" y="3097127"/>
            <a:ext cx="8077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154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Block-Oriented Single Buffer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Input transfers are made to the system buffer</a:t>
            </a:r>
          </a:p>
          <a:p>
            <a:r>
              <a:rPr lang="en-US" altLang="zh-CN" dirty="0"/>
              <a:t>Reading ahead/anticipated </a:t>
            </a:r>
            <a:r>
              <a:rPr lang="en-US" altLang="zh-CN" dirty="0" smtClean="0"/>
              <a:t>input </a:t>
            </a:r>
            <a:r>
              <a:rPr lang="zh-CN" altLang="en-US" dirty="0" smtClean="0"/>
              <a:t>（预读）</a:t>
            </a:r>
            <a:endParaRPr lang="en-US" altLang="zh-CN" dirty="0"/>
          </a:p>
          <a:p>
            <a:pPr lvl="1"/>
            <a:r>
              <a:rPr lang="en-US" altLang="zh-CN" dirty="0"/>
              <a:t>is done in the expectation that the block will eventually be needed</a:t>
            </a:r>
          </a:p>
          <a:p>
            <a:pPr lvl="1"/>
            <a:r>
              <a:rPr lang="en-US" altLang="zh-CN" dirty="0"/>
              <a:t>when the transfer is complete, the process moves the block into </a:t>
            </a:r>
            <a:r>
              <a:rPr lang="en-US" altLang="zh-CN" dirty="0">
                <a:solidFill>
                  <a:srgbClr val="0070C0"/>
                </a:solidFill>
              </a:rPr>
              <a:t>user space </a:t>
            </a:r>
            <a:r>
              <a:rPr lang="en-US" altLang="zh-CN" dirty="0"/>
              <a:t>and immediately requests another block</a:t>
            </a:r>
          </a:p>
          <a:p>
            <a:r>
              <a:rPr lang="en-US" altLang="zh-CN" dirty="0"/>
              <a:t>Generally provides a </a:t>
            </a:r>
            <a:r>
              <a:rPr lang="en-US" altLang="zh-CN" dirty="0">
                <a:solidFill>
                  <a:srgbClr val="FF0000"/>
                </a:solidFill>
              </a:rPr>
              <a:t>speedup</a:t>
            </a:r>
            <a:r>
              <a:rPr lang="en-US" altLang="zh-CN" dirty="0"/>
              <a:t> compared to the lack of system buffering</a:t>
            </a:r>
          </a:p>
          <a:p>
            <a:r>
              <a:rPr lang="en-US" altLang="zh-CN" dirty="0"/>
              <a:t>Disadvantages:</a:t>
            </a:r>
          </a:p>
          <a:p>
            <a:pPr lvl="1"/>
            <a:r>
              <a:rPr lang="en-US" altLang="zh-CN" dirty="0"/>
              <a:t>complicates the logic in the operating system </a:t>
            </a:r>
          </a:p>
          <a:p>
            <a:pPr lvl="1"/>
            <a:r>
              <a:rPr lang="en-US" altLang="zh-CN" dirty="0">
                <a:solidFill>
                  <a:srgbClr val="0070C0"/>
                </a:solidFill>
              </a:rPr>
              <a:t>swapping</a:t>
            </a:r>
            <a:r>
              <a:rPr lang="en-US" altLang="zh-CN" dirty="0"/>
              <a:t> logic is also affected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CC587DB-2CB2-4C8D-9491-118A13C4D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6044" y="3910408"/>
            <a:ext cx="609653" cy="92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34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Stream-Oriented Single Buffer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Line-at-a-time operation</a:t>
            </a:r>
          </a:p>
          <a:p>
            <a:pPr lvl="1"/>
            <a:r>
              <a:rPr lang="en-US" altLang="zh-CN" dirty="0"/>
              <a:t>appropriate for </a:t>
            </a:r>
            <a:r>
              <a:rPr lang="en-US" altLang="zh-CN" dirty="0">
                <a:solidFill>
                  <a:srgbClr val="C00000"/>
                </a:solidFill>
              </a:rPr>
              <a:t>scroll-mode </a:t>
            </a:r>
            <a:r>
              <a:rPr lang="zh-CN" altLang="en-US" dirty="0">
                <a:solidFill>
                  <a:srgbClr val="C00000"/>
                </a:solidFill>
              </a:rPr>
              <a:t>（滚动模式）</a:t>
            </a:r>
            <a:r>
              <a:rPr lang="en-US" altLang="zh-CN" dirty="0"/>
              <a:t> terminals (dumb terminals)</a:t>
            </a:r>
          </a:p>
          <a:p>
            <a:pPr lvl="1"/>
            <a:r>
              <a:rPr lang="en-US" altLang="zh-CN" dirty="0"/>
              <a:t>user input is one line at a time with a carriage return </a:t>
            </a:r>
            <a:r>
              <a:rPr lang="zh-CN" altLang="en-US" dirty="0"/>
              <a:t>（回车）</a:t>
            </a:r>
            <a:r>
              <a:rPr lang="en-US" altLang="zh-CN" dirty="0"/>
              <a:t> signaling the end of a line</a:t>
            </a:r>
          </a:p>
          <a:p>
            <a:pPr lvl="1"/>
            <a:r>
              <a:rPr lang="en-US" altLang="zh-CN" dirty="0"/>
              <a:t>output to the terminal is similarly one line at a time</a:t>
            </a:r>
          </a:p>
          <a:p>
            <a:r>
              <a:rPr lang="en-US" altLang="zh-CN" dirty="0"/>
              <a:t>Byte-at-a-time operation</a:t>
            </a:r>
          </a:p>
          <a:p>
            <a:pPr lvl="1"/>
            <a:r>
              <a:rPr lang="en-US" altLang="zh-CN" dirty="0"/>
              <a:t>used on </a:t>
            </a:r>
            <a:r>
              <a:rPr lang="en-US" altLang="zh-CN" dirty="0">
                <a:solidFill>
                  <a:srgbClr val="C00000"/>
                </a:solidFill>
              </a:rPr>
              <a:t>forms-mode </a:t>
            </a:r>
            <a:r>
              <a:rPr lang="zh-CN" altLang="en-US" dirty="0">
                <a:solidFill>
                  <a:srgbClr val="C00000"/>
                </a:solidFill>
              </a:rPr>
              <a:t>（表格模式）</a:t>
            </a:r>
            <a:r>
              <a:rPr lang="en-US" altLang="zh-CN" dirty="0"/>
              <a:t> terminals</a:t>
            </a:r>
          </a:p>
          <a:p>
            <a:pPr lvl="1"/>
            <a:r>
              <a:rPr lang="en-US" altLang="zh-CN" dirty="0"/>
              <a:t>when each keystroke is significant</a:t>
            </a:r>
          </a:p>
          <a:p>
            <a:pPr lvl="1"/>
            <a:r>
              <a:rPr lang="en-US" altLang="zh-CN" dirty="0"/>
              <a:t>other peripherals such as sensors and controllers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64966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Double Buffer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Use two system buffers instead of one</a:t>
            </a:r>
          </a:p>
          <a:p>
            <a:r>
              <a:rPr lang="en-US" altLang="zh-CN" dirty="0"/>
              <a:t>A process can transfer data to or from one buffer while the operating system empties or fills the other buffer</a:t>
            </a:r>
          </a:p>
          <a:p>
            <a:r>
              <a:rPr lang="en-US" altLang="zh-CN" dirty="0"/>
              <a:t>Also known as </a:t>
            </a:r>
            <a:r>
              <a:rPr lang="en-US" altLang="zh-CN" dirty="0">
                <a:solidFill>
                  <a:srgbClr val="C00000"/>
                </a:solidFill>
              </a:rPr>
              <a:t>buffer swapping </a:t>
            </a:r>
            <a:r>
              <a:rPr lang="zh-CN" altLang="en-US" dirty="0">
                <a:solidFill>
                  <a:srgbClr val="C00000"/>
                </a:solidFill>
              </a:rPr>
              <a:t>（缓冲交换）</a:t>
            </a:r>
            <a:endParaRPr lang="en-US" altLang="zh-CN" dirty="0">
              <a:solidFill>
                <a:srgbClr val="C00000"/>
              </a:solidFill>
            </a:endParaRPr>
          </a:p>
          <a:p>
            <a:endParaRPr lang="en-US" altLang="zh-CN" dirty="0"/>
          </a:p>
        </p:txBody>
      </p:sp>
      <p:pic>
        <p:nvPicPr>
          <p:cNvPr id="4" name="Picture 3" descr="Fig11_05c.gif">
            <a:extLst>
              <a:ext uri="{FF2B5EF4-FFF2-40B4-BE49-F238E27FC236}">
                <a16:creationId xmlns:a16="http://schemas.microsoft.com/office/drawing/2014/main" id="{69F9F678-AA23-414C-ABFE-8A50199B0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636" y="3289111"/>
            <a:ext cx="82296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948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Circular Buffer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Two or more buffers are used</a:t>
            </a:r>
          </a:p>
          <a:p>
            <a:r>
              <a:rPr lang="en-US" altLang="zh-CN" dirty="0"/>
              <a:t>Each individual buffer is one unit in a circular buffer</a:t>
            </a:r>
          </a:p>
          <a:p>
            <a:r>
              <a:rPr lang="en-US" altLang="zh-CN" dirty="0"/>
              <a:t>Used when I/O operation must keep up with process</a:t>
            </a:r>
          </a:p>
          <a:p>
            <a:endParaRPr lang="en-US" altLang="zh-CN" dirty="0"/>
          </a:p>
        </p:txBody>
      </p:sp>
      <p:pic>
        <p:nvPicPr>
          <p:cNvPr id="4" name="Picture 3" descr="Fig11_05d.gif">
            <a:extLst>
              <a:ext uri="{FF2B5EF4-FFF2-40B4-BE49-F238E27FC236}">
                <a16:creationId xmlns:a16="http://schemas.microsoft.com/office/drawing/2014/main" id="{29262FB0-334B-4589-92F8-E182170AD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5403" y="2969525"/>
            <a:ext cx="8229600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935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Utility of Buffering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Technique that </a:t>
            </a:r>
            <a:r>
              <a:rPr lang="en-US" altLang="zh-CN" dirty="0" err="1">
                <a:solidFill>
                  <a:srgbClr val="C00000"/>
                </a:solidFill>
              </a:rPr>
              <a:t>smoothes</a:t>
            </a:r>
            <a:r>
              <a:rPr lang="en-US" altLang="zh-CN" dirty="0">
                <a:solidFill>
                  <a:srgbClr val="C00000"/>
                </a:solidFill>
              </a:rPr>
              <a:t> out peaks </a:t>
            </a:r>
            <a:r>
              <a:rPr lang="en-US" altLang="zh-CN" dirty="0"/>
              <a:t>in I/O demand</a:t>
            </a:r>
          </a:p>
          <a:p>
            <a:pPr lvl="1"/>
            <a:r>
              <a:rPr lang="en-US" altLang="zh-CN" dirty="0"/>
              <a:t>all buffers become full,</a:t>
            </a:r>
            <a:r>
              <a:rPr lang="zh-CN" altLang="en-US" dirty="0"/>
              <a:t> </a:t>
            </a:r>
            <a:r>
              <a:rPr lang="en-US" altLang="zh-CN" dirty="0"/>
              <a:t>so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their advantage is lost</a:t>
            </a:r>
          </a:p>
          <a:p>
            <a:r>
              <a:rPr lang="en-US" altLang="zh-CN" dirty="0"/>
              <a:t>When there is a variety of I/O and process activities to service, buffering can increase the efficiency of the OS and </a:t>
            </a:r>
            <a:r>
              <a:rPr lang="en-US" altLang="zh-CN" dirty="0">
                <a:solidFill>
                  <a:srgbClr val="C00000"/>
                </a:solidFill>
              </a:rPr>
              <a:t>the performance of individual processes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05609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 Disk Scheduling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HDD (Hard Disk Drive)      vs          SSD (Solid State Drive)</a:t>
            </a:r>
          </a:p>
          <a:p>
            <a:endParaRPr lang="zh-CN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ECB2ABB-7813-4559-A226-2D72C127B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26692" y="1907507"/>
            <a:ext cx="4226257" cy="4088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1BEAAEB7-C0CA-4B64-B4FC-2AE471EAF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233004" y="2298032"/>
            <a:ext cx="4077595" cy="32764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012375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Disk </a:t>
            </a:r>
            <a:r>
              <a:rPr lang="en-US" altLang="zh-CN" dirty="0"/>
              <a:t>Performance Parameters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actual details of disk I/O operation depend on the:</a:t>
            </a:r>
          </a:p>
          <a:p>
            <a:pPr lvl="1"/>
            <a:r>
              <a:rPr lang="en-US" altLang="zh-CN" dirty="0"/>
              <a:t>computer system</a:t>
            </a:r>
          </a:p>
          <a:p>
            <a:pPr lvl="1"/>
            <a:r>
              <a:rPr lang="en-US" altLang="zh-CN" dirty="0"/>
              <a:t>operating system</a:t>
            </a:r>
          </a:p>
          <a:p>
            <a:pPr lvl="1"/>
            <a:r>
              <a:rPr lang="en-US" altLang="zh-CN" dirty="0"/>
              <a:t>nature of the I/O channel and disk controller hardware</a:t>
            </a:r>
          </a:p>
          <a:p>
            <a:endParaRPr lang="zh-CN" altLang="en-US" dirty="0"/>
          </a:p>
        </p:txBody>
      </p:sp>
      <p:pic>
        <p:nvPicPr>
          <p:cNvPr id="4" name="Content Placeholder 3" descr="Fig11_06.gif">
            <a:extLst>
              <a:ext uri="{FF2B5EF4-FFF2-40B4-BE49-F238E27FC236}">
                <a16:creationId xmlns:a16="http://schemas.microsoft.com/office/drawing/2014/main" id="{9CA204C1-5E9A-4138-A88D-563F5189D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97541" y="3186752"/>
            <a:ext cx="7534275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56148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Positioning the Read/Write Heads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When the disk drive is operating, the disk is </a:t>
            </a:r>
            <a:r>
              <a:rPr lang="en-US" altLang="zh-CN" dirty="0">
                <a:solidFill>
                  <a:srgbClr val="C00000"/>
                </a:solidFill>
              </a:rPr>
              <a:t>rotating at constant speed</a:t>
            </a:r>
          </a:p>
          <a:p>
            <a:r>
              <a:rPr lang="en-US" altLang="zh-CN" dirty="0"/>
              <a:t> To read or write the head must be positioned at the desired track and at the beginning of the desired sector on that track</a:t>
            </a:r>
          </a:p>
          <a:p>
            <a:r>
              <a:rPr lang="en-US" altLang="zh-CN" dirty="0"/>
              <a:t> </a:t>
            </a:r>
            <a:r>
              <a:rPr lang="en-US" altLang="zh-CN" dirty="0">
                <a:solidFill>
                  <a:srgbClr val="C00000"/>
                </a:solidFill>
              </a:rPr>
              <a:t>Track selection </a:t>
            </a:r>
            <a:r>
              <a:rPr lang="en-US" altLang="zh-CN" dirty="0"/>
              <a:t>involves moving the head in a </a:t>
            </a:r>
            <a:r>
              <a:rPr lang="en-US" altLang="zh-CN" dirty="0">
                <a:solidFill>
                  <a:srgbClr val="C00000"/>
                </a:solidFill>
              </a:rPr>
              <a:t>movable-head system</a:t>
            </a:r>
          </a:p>
          <a:p>
            <a:pPr lvl="1"/>
            <a:r>
              <a:rPr lang="en-US" altLang="zh-CN" dirty="0"/>
              <a:t>The time it takes to position the head at the track is known as seek time</a:t>
            </a:r>
          </a:p>
          <a:p>
            <a:pPr lvl="1"/>
            <a:r>
              <a:rPr lang="en-US" altLang="zh-CN" dirty="0"/>
              <a:t>The time it takes for the beginning of the sector to reach the head is known as rotational delay</a:t>
            </a:r>
          </a:p>
          <a:p>
            <a:r>
              <a:rPr lang="en-US" altLang="zh-CN" dirty="0"/>
              <a:t> The sum of the seek </a:t>
            </a:r>
            <a:r>
              <a:rPr lang="en-US" altLang="zh-CN" dirty="0" smtClean="0"/>
              <a:t>time, the </a:t>
            </a:r>
            <a:r>
              <a:rPr lang="en-US" altLang="zh-CN" dirty="0"/>
              <a:t>rotational </a:t>
            </a:r>
            <a:r>
              <a:rPr lang="en-US" altLang="zh-CN" dirty="0" smtClean="0"/>
              <a:t>delay and transfer time </a:t>
            </a:r>
            <a:r>
              <a:rPr lang="en-US" altLang="zh-CN" dirty="0"/>
              <a:t>equals the </a:t>
            </a:r>
            <a:r>
              <a:rPr lang="en-US" altLang="zh-CN" dirty="0">
                <a:solidFill>
                  <a:srgbClr val="C00000"/>
                </a:solidFill>
              </a:rPr>
              <a:t>access time (</a:t>
            </a:r>
            <a:r>
              <a:rPr lang="zh-CN" altLang="en-US" dirty="0">
                <a:solidFill>
                  <a:srgbClr val="C00000"/>
                </a:solidFill>
              </a:rPr>
              <a:t>存取时间</a:t>
            </a:r>
            <a:r>
              <a:rPr lang="en-US" altLang="zh-CN" dirty="0">
                <a:solidFill>
                  <a:srgbClr val="C00000"/>
                </a:solidFill>
              </a:rPr>
              <a:t>)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FD1168B-6E90-49A0-9CE2-F03BFE7E52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6623829"/>
              </p:ext>
            </p:extLst>
          </p:nvPr>
        </p:nvGraphicFramePr>
        <p:xfrm>
          <a:off x="1296988" y="4805363"/>
          <a:ext cx="2133600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6" name="Equation" r:id="rId4" imgW="1091880" imgH="393480" progId="Equation.DSMT4">
                  <p:embed/>
                </p:oleObj>
              </mc:Choice>
              <mc:Fallback>
                <p:oleObj name="Equation" r:id="rId4" imgW="1091880" imgH="393480" progId="Equation.DSMT4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6988" y="4805363"/>
                        <a:ext cx="2133600" cy="768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椭圆 4"/>
          <p:cNvSpPr/>
          <p:nvPr/>
        </p:nvSpPr>
        <p:spPr>
          <a:xfrm>
            <a:off x="1796527" y="4805148"/>
            <a:ext cx="398033" cy="7690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箭头连接符 6"/>
          <p:cNvCxnSpPr>
            <a:endCxn id="8" idx="0"/>
          </p:cNvCxnSpPr>
          <p:nvPr/>
        </p:nvCxnSpPr>
        <p:spPr>
          <a:xfrm flipH="1">
            <a:off x="1546533" y="5574237"/>
            <a:ext cx="443632" cy="2994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729727" y="5873675"/>
            <a:ext cx="1633611" cy="3550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rgbClr val="0070C0"/>
                </a:solidFill>
              </a:rPr>
              <a:t>Seek time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698498" y="5873675"/>
            <a:ext cx="1633611" cy="3550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rgbClr val="0070C0"/>
                </a:solidFill>
              </a:rPr>
              <a:t>Rotation delay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684205" y="5873675"/>
            <a:ext cx="1633611" cy="3550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rgbClr val="0070C0"/>
                </a:solidFill>
              </a:rPr>
              <a:t>Transfer time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2342719" y="4828162"/>
            <a:ext cx="398033" cy="7690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2939151" y="4851176"/>
            <a:ext cx="490987" cy="7690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箭头连接符 14"/>
          <p:cNvCxnSpPr>
            <a:stCxn id="12" idx="4"/>
            <a:endCxn id="10" idx="0"/>
          </p:cNvCxnSpPr>
          <p:nvPr/>
        </p:nvCxnSpPr>
        <p:spPr>
          <a:xfrm>
            <a:off x="2541736" y="5597251"/>
            <a:ext cx="973568" cy="2764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13" idx="6"/>
            <a:endCxn id="11" idx="0"/>
          </p:cNvCxnSpPr>
          <p:nvPr/>
        </p:nvCxnSpPr>
        <p:spPr>
          <a:xfrm>
            <a:off x="3430138" y="5235721"/>
            <a:ext cx="2070873" cy="6379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391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First-In, First-Out (FIFO)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Processes in sequential order</a:t>
            </a:r>
          </a:p>
          <a:p>
            <a:r>
              <a:rPr lang="en-US" altLang="zh-CN" dirty="0"/>
              <a:t>Fair to all processes</a:t>
            </a:r>
          </a:p>
          <a:p>
            <a:r>
              <a:rPr lang="en-US" altLang="zh-CN" dirty="0"/>
              <a:t>Approximates random scheduling in performance if there are many processes competing for the disk</a:t>
            </a:r>
          </a:p>
          <a:p>
            <a:r>
              <a:rPr lang="en-US" altLang="zh-CN" dirty="0">
                <a:solidFill>
                  <a:srgbClr val="0070C0"/>
                </a:solidFill>
              </a:rPr>
              <a:t>Case: 55, 58, 39, 18, 90, 160, 150, 38, 184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Picture 3" descr="Fig11_07a.gif">
            <a:extLst>
              <a:ext uri="{FF2B5EF4-FFF2-40B4-BE49-F238E27FC236}">
                <a16:creationId xmlns:a16="http://schemas.microsoft.com/office/drawing/2014/main" id="{03CBACDD-4EC8-4573-BE61-4D80121A3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462" y="3942254"/>
            <a:ext cx="8229600" cy="2651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5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Priority (PRI)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Control of the scheduling is outside the control of disk management software</a:t>
            </a:r>
          </a:p>
          <a:p>
            <a:r>
              <a:rPr lang="en-US" altLang="zh-CN" dirty="0"/>
              <a:t>Goal is not to optimize disk utilization but to </a:t>
            </a:r>
            <a:r>
              <a:rPr lang="en-US" altLang="zh-CN" dirty="0">
                <a:solidFill>
                  <a:srgbClr val="C00000"/>
                </a:solidFill>
              </a:rPr>
              <a:t>meet other objectives</a:t>
            </a:r>
          </a:p>
          <a:p>
            <a:r>
              <a:rPr lang="en-US" altLang="zh-CN" dirty="0">
                <a:solidFill>
                  <a:srgbClr val="0070C0"/>
                </a:solidFill>
              </a:rPr>
              <a:t>Short batch jobs </a:t>
            </a:r>
            <a:r>
              <a:rPr lang="en-US" altLang="zh-CN" dirty="0"/>
              <a:t>and </a:t>
            </a:r>
            <a:r>
              <a:rPr lang="en-US" altLang="zh-CN" dirty="0">
                <a:solidFill>
                  <a:srgbClr val="0070C0"/>
                </a:solidFill>
              </a:rPr>
              <a:t>interactive jobs </a:t>
            </a:r>
            <a:r>
              <a:rPr lang="en-US" altLang="zh-CN" dirty="0"/>
              <a:t>are given higher priority</a:t>
            </a:r>
          </a:p>
          <a:p>
            <a:r>
              <a:rPr lang="en-US" altLang="zh-CN" dirty="0"/>
              <a:t>Provides good interactive response time</a:t>
            </a:r>
          </a:p>
          <a:p>
            <a:r>
              <a:rPr lang="en-US" altLang="zh-CN" dirty="0"/>
              <a:t>Longer jobs may have to wait an excessively long time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9838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Shortest Service Time First (SSTF)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Select the disk I/O request that requires the least movement of the disk arm from its current position</a:t>
            </a:r>
          </a:p>
          <a:p>
            <a:r>
              <a:rPr lang="en-US" altLang="zh-CN" dirty="0"/>
              <a:t>Always choose the minimum seek time</a:t>
            </a:r>
          </a:p>
          <a:p>
            <a:r>
              <a:rPr lang="en-US" altLang="zh-CN" dirty="0" smtClean="0"/>
              <a:t>Starvation</a:t>
            </a:r>
          </a:p>
          <a:p>
            <a:r>
              <a:rPr lang="en-US" altLang="zh-CN" dirty="0">
                <a:solidFill>
                  <a:srgbClr val="0070C0"/>
                </a:solidFill>
              </a:rPr>
              <a:t>Case: 55, 58, 39, 18, 90, 160, 150, 38, </a:t>
            </a:r>
            <a:r>
              <a:rPr lang="en-US" altLang="zh-CN" dirty="0" smtClean="0">
                <a:solidFill>
                  <a:srgbClr val="0070C0"/>
                </a:solidFill>
              </a:rPr>
              <a:t>184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Picture 3" descr="Fig11_07b.gif">
            <a:extLst>
              <a:ext uri="{FF2B5EF4-FFF2-40B4-BE49-F238E27FC236}">
                <a16:creationId xmlns:a16="http://schemas.microsoft.com/office/drawing/2014/main" id="{5CD11C95-54CB-447B-8ECF-3A0917BAA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338" y="3660944"/>
            <a:ext cx="8229600" cy="2743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519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SCAN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Also known as the elevator algorithm</a:t>
            </a:r>
          </a:p>
          <a:p>
            <a:r>
              <a:rPr lang="en-US" altLang="zh-CN" dirty="0"/>
              <a:t>Arm moves in one direction only</a:t>
            </a:r>
          </a:p>
          <a:p>
            <a:pPr lvl="1"/>
            <a:r>
              <a:rPr lang="en-US" altLang="zh-CN" dirty="0"/>
              <a:t>satisfies all outstanding requests until it reaches the last track in that direction then the direction is reversed</a:t>
            </a:r>
          </a:p>
          <a:p>
            <a:r>
              <a:rPr lang="en-US" altLang="zh-CN" dirty="0"/>
              <a:t>Favors jobs whose requests are for tracks nearest to both innermost and outermost tracks</a:t>
            </a:r>
          </a:p>
          <a:p>
            <a:endParaRPr lang="zh-CN" altLang="en-US" dirty="0"/>
          </a:p>
        </p:txBody>
      </p:sp>
      <p:pic>
        <p:nvPicPr>
          <p:cNvPr id="4" name="Picture 3" descr="Fig11_07c.gif">
            <a:extLst>
              <a:ext uri="{FF2B5EF4-FFF2-40B4-BE49-F238E27FC236}">
                <a16:creationId xmlns:a16="http://schemas.microsoft.com/office/drawing/2014/main" id="{96585762-9D00-4329-8226-8D2667400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285" y="3754716"/>
            <a:ext cx="822960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110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C-SCAN (Circular SCAN)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Restricts scanning to one direction only</a:t>
            </a:r>
          </a:p>
          <a:p>
            <a:r>
              <a:rPr lang="en-US" altLang="zh-CN" dirty="0"/>
              <a:t>When the last track has been visited in one direction, the arm is returned to the opposite end of the disk and the scan begins again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Picture 3" descr="Fig11_07d.gif">
            <a:extLst>
              <a:ext uri="{FF2B5EF4-FFF2-40B4-BE49-F238E27FC236}">
                <a16:creationId xmlns:a16="http://schemas.microsoft.com/office/drawing/2014/main" id="{C2F535B4-AE69-42A5-B06F-A2CD6BF51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272" y="3069609"/>
            <a:ext cx="823605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88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N-Step-SCAN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Segments the disk request queue </a:t>
            </a:r>
            <a:r>
              <a:rPr lang="en-US" altLang="zh-CN" dirty="0">
                <a:solidFill>
                  <a:srgbClr val="0070C0"/>
                </a:solidFill>
              </a:rPr>
              <a:t>into </a:t>
            </a:r>
            <a:r>
              <a:rPr lang="en-US" altLang="zh-CN" dirty="0" err="1">
                <a:solidFill>
                  <a:srgbClr val="0070C0"/>
                </a:solidFill>
              </a:rPr>
              <a:t>subqueues</a:t>
            </a:r>
            <a:r>
              <a:rPr lang="en-US" altLang="zh-CN" dirty="0">
                <a:solidFill>
                  <a:srgbClr val="0070C0"/>
                </a:solidFill>
              </a:rPr>
              <a:t> of length N</a:t>
            </a:r>
          </a:p>
          <a:p>
            <a:r>
              <a:rPr lang="en-US" altLang="zh-CN" dirty="0" err="1"/>
              <a:t>Subqueues</a:t>
            </a:r>
            <a:r>
              <a:rPr lang="en-US" altLang="zh-CN" dirty="0"/>
              <a:t> are processed one at a time, using SCAN</a:t>
            </a:r>
          </a:p>
          <a:p>
            <a:r>
              <a:rPr lang="en-US" altLang="zh-CN" dirty="0"/>
              <a:t>While a queue is being processed </a:t>
            </a:r>
            <a:r>
              <a:rPr lang="en-US" altLang="zh-CN" dirty="0">
                <a:solidFill>
                  <a:srgbClr val="0070C0"/>
                </a:solidFill>
              </a:rPr>
              <a:t>new requests must be added to some other queue</a:t>
            </a:r>
          </a:p>
          <a:p>
            <a:r>
              <a:rPr lang="en-US" altLang="zh-CN" dirty="0"/>
              <a:t>If fewer than N requests are available at the end of a scan, all of them are processed with the next scan</a:t>
            </a:r>
          </a:p>
          <a:p>
            <a:r>
              <a:rPr lang="en-US" altLang="zh-CN" dirty="0"/>
              <a:t>SCAN </a:t>
            </a:r>
            <a:r>
              <a:rPr lang="en-US" altLang="zh-CN" dirty="0" err="1"/>
              <a:t>v.s</a:t>
            </a:r>
            <a:r>
              <a:rPr lang="en-US" altLang="zh-CN" dirty="0"/>
              <a:t>. FIFO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3192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FSCAN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Uses </a:t>
            </a:r>
            <a:r>
              <a:rPr lang="en-US" altLang="zh-CN" dirty="0">
                <a:solidFill>
                  <a:srgbClr val="0070C0"/>
                </a:solidFill>
              </a:rPr>
              <a:t>two </a:t>
            </a:r>
            <a:r>
              <a:rPr lang="en-US" altLang="zh-CN" dirty="0" err="1">
                <a:solidFill>
                  <a:srgbClr val="0070C0"/>
                </a:solidFill>
              </a:rPr>
              <a:t>subqueues</a:t>
            </a:r>
            <a:endParaRPr lang="en-US" altLang="zh-CN" dirty="0">
              <a:solidFill>
                <a:srgbClr val="0070C0"/>
              </a:solidFill>
            </a:endParaRPr>
          </a:p>
          <a:p>
            <a:r>
              <a:rPr lang="en-US" altLang="zh-CN" dirty="0"/>
              <a:t>When a scan begins, all of the requests are in one of the queues, with the other empty</a:t>
            </a:r>
          </a:p>
          <a:p>
            <a:r>
              <a:rPr lang="en-US" altLang="zh-CN" dirty="0"/>
              <a:t>During scan, all new requests are put into the other queue</a:t>
            </a:r>
          </a:p>
          <a:p>
            <a:r>
              <a:rPr lang="en-US" altLang="zh-CN" dirty="0"/>
              <a:t>Service of new requests is deferred until all of the old requests have been processed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17569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1A0A05-4456-44F5-B1E4-3E2DA6C558D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142699" y="424336"/>
            <a:ext cx="8132922" cy="5254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960EE74-6542-4761-87EB-1383A026004C}"/>
              </a:ext>
            </a:extLst>
          </p:cNvPr>
          <p:cNvSpPr txBox="1"/>
          <p:nvPr/>
        </p:nvSpPr>
        <p:spPr>
          <a:xfrm>
            <a:off x="3684894" y="5921030"/>
            <a:ext cx="7410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Table 11.2   Comparison of Disk Scheduling Algorithms </a:t>
            </a:r>
          </a:p>
        </p:txBody>
      </p:sp>
    </p:spTree>
    <p:extLst>
      <p:ext uri="{BB962C8B-B14F-4D97-AF65-F5344CB8AC3E}">
        <p14:creationId xmlns:p14="http://schemas.microsoft.com/office/powerpoint/2010/main" val="389065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D5F85A4B-8966-4390-8F7F-26230F921B4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074459" y="376569"/>
            <a:ext cx="8274859" cy="53093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9412FF4-191D-47E0-AC62-57764AEF196A}"/>
              </a:ext>
            </a:extLst>
          </p:cNvPr>
          <p:cNvSpPr txBox="1"/>
          <p:nvPr/>
        </p:nvSpPr>
        <p:spPr>
          <a:xfrm>
            <a:off x="4435523" y="5950002"/>
            <a:ext cx="5554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Table 11.3   Disk Scheduling Algorithms </a:t>
            </a:r>
          </a:p>
        </p:txBody>
      </p:sp>
    </p:spTree>
    <p:extLst>
      <p:ext uri="{BB962C8B-B14F-4D97-AF65-F5344CB8AC3E}">
        <p14:creationId xmlns:p14="http://schemas.microsoft.com/office/powerpoint/2010/main" val="3188158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 Disk Cache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Cache memory  is used to apply to a memory that is </a:t>
            </a:r>
            <a:r>
              <a:rPr lang="en-US" altLang="zh-CN" dirty="0">
                <a:solidFill>
                  <a:srgbClr val="0070C0"/>
                </a:solidFill>
              </a:rPr>
              <a:t>smaller and faster than main memory </a:t>
            </a:r>
            <a:r>
              <a:rPr lang="en-US" altLang="zh-CN" dirty="0"/>
              <a:t>and that is interposed </a:t>
            </a:r>
            <a:r>
              <a:rPr lang="en-US" altLang="zh-CN" dirty="0">
                <a:solidFill>
                  <a:srgbClr val="0070C0"/>
                </a:solidFill>
              </a:rPr>
              <a:t>between main memory and the processor</a:t>
            </a:r>
          </a:p>
          <a:p>
            <a:r>
              <a:rPr lang="en-US" altLang="zh-CN" dirty="0"/>
              <a:t> Reduces average memory access time by exploiting the principle of locality</a:t>
            </a:r>
          </a:p>
          <a:p>
            <a:r>
              <a:rPr lang="en-US" altLang="zh-CN" dirty="0"/>
              <a:t> </a:t>
            </a:r>
            <a:r>
              <a:rPr lang="en-US" altLang="zh-CN" dirty="0">
                <a:solidFill>
                  <a:srgbClr val="C00000"/>
                </a:solidFill>
              </a:rPr>
              <a:t>Disk cache </a:t>
            </a:r>
            <a:r>
              <a:rPr lang="en-US" altLang="zh-CN" dirty="0"/>
              <a:t>is a </a:t>
            </a:r>
            <a:r>
              <a:rPr lang="en-US" altLang="zh-CN" dirty="0">
                <a:solidFill>
                  <a:srgbClr val="0070C0"/>
                </a:solidFill>
              </a:rPr>
              <a:t>buffer</a:t>
            </a:r>
            <a:r>
              <a:rPr lang="en-US" altLang="zh-CN" dirty="0"/>
              <a:t> in main memory for disk sectors</a:t>
            </a:r>
          </a:p>
          <a:p>
            <a:r>
              <a:rPr lang="en-US" altLang="zh-CN" dirty="0"/>
              <a:t> Contains a copy of some of the sectors on the disk</a:t>
            </a:r>
          </a:p>
          <a:p>
            <a:r>
              <a:rPr lang="en-US" altLang="zh-CN" dirty="0"/>
              <a:t> when an I/O request is made for a particular sector, a check is made to determine if the sector is in the disk cache</a:t>
            </a:r>
          </a:p>
          <a:p>
            <a:pPr lvl="1"/>
            <a:r>
              <a:rPr lang="en-US" altLang="zh-CN" dirty="0"/>
              <a:t>if YES</a:t>
            </a:r>
          </a:p>
          <a:p>
            <a:pPr lvl="2"/>
            <a:r>
              <a:rPr lang="en-US" altLang="zh-CN" dirty="0"/>
              <a:t>the request is satisfied via the cache</a:t>
            </a:r>
          </a:p>
          <a:p>
            <a:pPr lvl="1"/>
            <a:r>
              <a:rPr lang="en-US" altLang="zh-CN" dirty="0"/>
              <a:t>if NO</a:t>
            </a:r>
          </a:p>
          <a:p>
            <a:pPr lvl="2"/>
            <a:r>
              <a:rPr lang="en-US" altLang="zh-CN" dirty="0"/>
              <a:t>the requested sector is read into the disk </a:t>
            </a:r>
            <a:r>
              <a:rPr lang="en-US" altLang="zh-CN" dirty="0">
                <a:solidFill>
                  <a:srgbClr val="C00000"/>
                </a:solidFill>
              </a:rPr>
              <a:t>cache</a:t>
            </a:r>
            <a:r>
              <a:rPr lang="en-US" altLang="zh-CN" dirty="0"/>
              <a:t> from the disk</a:t>
            </a:r>
          </a:p>
          <a:p>
            <a:pPr lvl="2"/>
            <a:endParaRPr lang="zh-CN" altLang="en-US" dirty="0"/>
          </a:p>
        </p:txBody>
      </p:sp>
      <p:sp>
        <p:nvSpPr>
          <p:cNvPr id="4" name="椭圆 3"/>
          <p:cNvSpPr/>
          <p:nvPr/>
        </p:nvSpPr>
        <p:spPr>
          <a:xfrm>
            <a:off x="2993293" y="2506532"/>
            <a:ext cx="3106294" cy="559397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2468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It needs replacement Algorithms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60902"/>
            <a:ext cx="10515600" cy="629192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When a new sector is read into the disk cache, an existing block must be </a:t>
            </a:r>
            <a:r>
              <a:rPr lang="en-US" altLang="zh-CN" dirty="0" smtClean="0">
                <a:solidFill>
                  <a:srgbClr val="FF0000"/>
                </a:solidFill>
              </a:rPr>
              <a:t>replaced</a:t>
            </a:r>
          </a:p>
        </p:txBody>
      </p:sp>
    </p:spTree>
    <p:extLst>
      <p:ext uri="{BB962C8B-B14F-4D97-AF65-F5344CB8AC3E}">
        <p14:creationId xmlns:p14="http://schemas.microsoft.com/office/powerpoint/2010/main" val="971745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Least Recently Used (LRU</a:t>
            </a:r>
            <a:r>
              <a:rPr lang="en-US" altLang="zh-CN" dirty="0" smtClean="0"/>
              <a:t>) </a:t>
            </a:r>
            <a:r>
              <a:rPr lang="zh-CN" altLang="en-US" dirty="0" smtClean="0"/>
              <a:t>最近最少使用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Most commonly used algorithm that deals with the design issue of </a:t>
            </a:r>
            <a:r>
              <a:rPr lang="en-US" altLang="zh-CN" dirty="0">
                <a:solidFill>
                  <a:srgbClr val="C00000"/>
                </a:solidFill>
              </a:rPr>
              <a:t>replacement strategy</a:t>
            </a:r>
          </a:p>
          <a:p>
            <a:pPr lvl="1"/>
            <a:r>
              <a:rPr lang="en-US" altLang="zh-CN" dirty="0"/>
              <a:t>The block that has been in the cache the longest with no reference to it is replaced</a:t>
            </a:r>
          </a:p>
          <a:p>
            <a:r>
              <a:rPr lang="en-US" altLang="zh-CN" dirty="0">
                <a:solidFill>
                  <a:srgbClr val="0070C0"/>
                </a:solidFill>
              </a:rPr>
              <a:t>A stack </a:t>
            </a:r>
            <a:r>
              <a:rPr lang="en-US" altLang="zh-CN" dirty="0"/>
              <a:t>of pointers reference the cache</a:t>
            </a:r>
          </a:p>
          <a:p>
            <a:pPr lvl="1"/>
            <a:r>
              <a:rPr lang="en-US" altLang="zh-CN" dirty="0">
                <a:solidFill>
                  <a:srgbClr val="C00000"/>
                </a:solidFill>
              </a:rPr>
              <a:t>most recently </a:t>
            </a:r>
            <a:r>
              <a:rPr lang="en-US" altLang="zh-CN" dirty="0"/>
              <a:t>referenced block is on the </a:t>
            </a:r>
            <a:r>
              <a:rPr lang="en-US" altLang="zh-CN" dirty="0">
                <a:solidFill>
                  <a:srgbClr val="0070C0"/>
                </a:solidFill>
              </a:rPr>
              <a:t>top of the stack</a:t>
            </a:r>
          </a:p>
          <a:p>
            <a:pPr lvl="1"/>
            <a:r>
              <a:rPr lang="en-US" altLang="zh-CN" dirty="0"/>
              <a:t>when a block is referenced or brought into the cache, it is placed on the top of the stack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12835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Least Frequently Used (LFU</a:t>
            </a:r>
            <a:r>
              <a:rPr lang="en-US" altLang="zh-CN" dirty="0" smtClean="0"/>
              <a:t>) </a:t>
            </a:r>
            <a:r>
              <a:rPr lang="zh-CN" altLang="en-US" dirty="0" smtClean="0"/>
              <a:t>最不常使用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block that has experienced the </a:t>
            </a:r>
            <a:r>
              <a:rPr lang="en-US" altLang="zh-CN" dirty="0">
                <a:solidFill>
                  <a:srgbClr val="0070C0"/>
                </a:solidFill>
              </a:rPr>
              <a:t>fewest</a:t>
            </a:r>
            <a:r>
              <a:rPr lang="en-US" altLang="zh-CN" dirty="0"/>
              <a:t> references is replaced</a:t>
            </a:r>
          </a:p>
          <a:p>
            <a:r>
              <a:rPr lang="en-US" altLang="zh-CN" dirty="0"/>
              <a:t>A </a:t>
            </a:r>
            <a:r>
              <a:rPr lang="en-US" altLang="zh-CN" dirty="0">
                <a:solidFill>
                  <a:srgbClr val="0070C0"/>
                </a:solidFill>
              </a:rPr>
              <a:t>counter</a:t>
            </a:r>
            <a:r>
              <a:rPr lang="en-US" altLang="zh-CN" dirty="0"/>
              <a:t> is associated with each block</a:t>
            </a:r>
          </a:p>
          <a:p>
            <a:r>
              <a:rPr lang="en-US" altLang="zh-CN" dirty="0"/>
              <a:t>Counter is incremented each time block is accessed</a:t>
            </a:r>
          </a:p>
          <a:p>
            <a:r>
              <a:rPr lang="en-US" altLang="zh-CN" dirty="0"/>
              <a:t>When replacement is required, the block with the smallest count is selected</a:t>
            </a:r>
          </a:p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959223" y="4109421"/>
            <a:ext cx="10273553" cy="77455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>
                <a:solidFill>
                  <a:srgbClr val="0070C0"/>
                </a:solidFill>
              </a:rPr>
              <a:t>? Some </a:t>
            </a:r>
            <a:r>
              <a:rPr lang="en-US" altLang="zh-CN" sz="2800" dirty="0">
                <a:solidFill>
                  <a:srgbClr val="0070C0"/>
                </a:solidFill>
              </a:rPr>
              <a:t>blocks that have been visited multiple times in the short term but are not frequently accessed as a whole may have a high </a:t>
            </a:r>
            <a:r>
              <a:rPr lang="en-US" altLang="zh-CN" sz="2800" dirty="0" smtClean="0">
                <a:solidFill>
                  <a:srgbClr val="0070C0"/>
                </a:solidFill>
              </a:rPr>
              <a:t>count ?</a:t>
            </a:r>
            <a:endParaRPr lang="zh-CN" altLang="en-US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3164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Frequency-Based Replacement</a:t>
            </a:r>
            <a:endParaRPr lang="zh-CN" altLang="en-US" dirty="0"/>
          </a:p>
        </p:txBody>
      </p:sp>
      <p:pic>
        <p:nvPicPr>
          <p:cNvPr id="4" name="Content Placeholder 3" descr="Fig11_09a.gif">
            <a:extLst>
              <a:ext uri="{FF2B5EF4-FFF2-40B4-BE49-F238E27FC236}">
                <a16:creationId xmlns:a16="http://schemas.microsoft.com/office/drawing/2014/main" id="{5DF81FF0-3C95-4748-A218-1A24A3BB40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99766" b="-99766"/>
          <a:stretch>
            <a:fillRect/>
          </a:stretch>
        </p:blipFill>
        <p:spPr>
          <a:xfrm>
            <a:off x="4910859" y="-1948642"/>
            <a:ext cx="6816845" cy="9661229"/>
          </a:xfrm>
          <a:prstGeom prst="rect">
            <a:avLst/>
          </a:prstGeom>
        </p:spPr>
      </p:pic>
      <p:pic>
        <p:nvPicPr>
          <p:cNvPr id="5" name="Picture 4" descr="Fig11_09b.gif">
            <a:extLst>
              <a:ext uri="{FF2B5EF4-FFF2-40B4-BE49-F238E27FC236}">
                <a16:creationId xmlns:a16="http://schemas.microsoft.com/office/drawing/2014/main" id="{7F553771-745B-40CF-84D9-8DD270AB2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859" y="4267200"/>
            <a:ext cx="7251970" cy="22098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18778"/>
            <a:ext cx="5675908" cy="116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020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69FA39-E5D9-4A6B-8D28-51C5F7FCC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Quiz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0823C0A8-13D0-48A2-A78B-B7154F11C9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0752" y="1785257"/>
            <a:ext cx="10912534" cy="3968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097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7. RAID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</a:rPr>
              <a:t>Redundant Array of Independent </a:t>
            </a:r>
            <a:r>
              <a:rPr lang="en-US" altLang="zh-CN" dirty="0" smtClean="0">
                <a:solidFill>
                  <a:srgbClr val="0070C0"/>
                </a:solidFill>
              </a:rPr>
              <a:t>Disks (</a:t>
            </a:r>
            <a:r>
              <a:rPr lang="zh-CN" altLang="en-US" dirty="0" smtClean="0">
                <a:solidFill>
                  <a:srgbClr val="0070C0"/>
                </a:solidFill>
              </a:rPr>
              <a:t>独立磁盘冗余阵列</a:t>
            </a:r>
            <a:r>
              <a:rPr lang="en-US" altLang="zh-CN" dirty="0" smtClean="0">
                <a:solidFill>
                  <a:srgbClr val="0070C0"/>
                </a:solidFill>
              </a:rPr>
              <a:t>)</a:t>
            </a:r>
            <a:endParaRPr lang="en-US" altLang="zh-CN" dirty="0">
              <a:solidFill>
                <a:srgbClr val="0070C0"/>
              </a:solidFill>
            </a:endParaRPr>
          </a:p>
          <a:p>
            <a:r>
              <a:rPr lang="en-US" altLang="zh-CN" dirty="0"/>
              <a:t>Consists of </a:t>
            </a:r>
            <a:r>
              <a:rPr lang="en-US" altLang="zh-CN" dirty="0">
                <a:solidFill>
                  <a:srgbClr val="0070C0"/>
                </a:solidFill>
              </a:rPr>
              <a:t>seven</a:t>
            </a:r>
            <a:r>
              <a:rPr lang="en-US" altLang="zh-CN" dirty="0"/>
              <a:t> levels, zero through six</a:t>
            </a:r>
          </a:p>
          <a:p>
            <a:r>
              <a:rPr lang="en-US" altLang="zh-CN" dirty="0"/>
              <a:t>Design architectures share three characteristics:</a:t>
            </a:r>
          </a:p>
          <a:p>
            <a:pPr lvl="1"/>
            <a:r>
              <a:rPr lang="en-US" altLang="zh-CN" dirty="0"/>
              <a:t>RAID is </a:t>
            </a:r>
            <a:r>
              <a:rPr lang="en-US" altLang="zh-CN" dirty="0">
                <a:solidFill>
                  <a:srgbClr val="0070C0"/>
                </a:solidFill>
              </a:rPr>
              <a:t>a set of physical disk drives </a:t>
            </a:r>
            <a:r>
              <a:rPr lang="en-US" altLang="zh-CN" dirty="0"/>
              <a:t>viewed by the operating system as </a:t>
            </a:r>
            <a:r>
              <a:rPr lang="en-US" altLang="zh-CN" dirty="0">
                <a:solidFill>
                  <a:srgbClr val="0070C0"/>
                </a:solidFill>
              </a:rPr>
              <a:t>a single logical drive</a:t>
            </a:r>
          </a:p>
          <a:p>
            <a:pPr lvl="1"/>
            <a:r>
              <a:rPr lang="en-US" altLang="zh-CN" dirty="0"/>
              <a:t>data are distributed across the physical drives of an array in a scheme known as </a:t>
            </a:r>
            <a:r>
              <a:rPr lang="en-US" altLang="zh-CN" dirty="0">
                <a:solidFill>
                  <a:srgbClr val="C00000"/>
                </a:solidFill>
              </a:rPr>
              <a:t>striping(</a:t>
            </a:r>
            <a:r>
              <a:rPr lang="zh-CN" altLang="en-US" dirty="0">
                <a:solidFill>
                  <a:srgbClr val="C00000"/>
                </a:solidFill>
              </a:rPr>
              <a:t>条带</a:t>
            </a:r>
            <a:r>
              <a:rPr lang="en-US" altLang="zh-CN" dirty="0">
                <a:solidFill>
                  <a:srgbClr val="C00000"/>
                </a:solidFill>
              </a:rPr>
              <a:t>)</a:t>
            </a:r>
          </a:p>
          <a:p>
            <a:pPr lvl="1"/>
            <a:r>
              <a:rPr lang="en-US" altLang="zh-CN" dirty="0"/>
              <a:t>redundant disk capacity is used to store </a:t>
            </a:r>
            <a:r>
              <a:rPr lang="en-US" altLang="zh-CN" dirty="0">
                <a:solidFill>
                  <a:srgbClr val="C00000"/>
                </a:solidFill>
              </a:rPr>
              <a:t>parity information </a:t>
            </a:r>
            <a:r>
              <a:rPr lang="zh-CN" altLang="en-US" dirty="0">
                <a:solidFill>
                  <a:srgbClr val="C00000"/>
                </a:solidFill>
              </a:rPr>
              <a:t>（校验）</a:t>
            </a:r>
            <a:r>
              <a:rPr lang="en-US" altLang="zh-CN" dirty="0"/>
              <a:t>, which guarantees data recoverability in case of a disk failure</a:t>
            </a: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22553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269C0F-9B4B-4F5F-B71B-2CAC6DEF451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1760561" y="369747"/>
            <a:ext cx="8827463" cy="5583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053030D-F6D7-44FA-90C0-5B47C7963AA9}"/>
              </a:ext>
            </a:extLst>
          </p:cNvPr>
          <p:cNvSpPr txBox="1"/>
          <p:nvPr/>
        </p:nvSpPr>
        <p:spPr>
          <a:xfrm>
            <a:off x="4892722" y="6165087"/>
            <a:ext cx="5957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Table 11.4  RAID Levels</a:t>
            </a:r>
            <a:br>
              <a:rPr lang="en-US" altLang="zh-CN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0779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RAID Level 0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Not a true RAID because it does not include redundancy to improve performance or provide data protection</a:t>
            </a:r>
          </a:p>
          <a:p>
            <a:r>
              <a:rPr lang="en-US" altLang="zh-CN" dirty="0"/>
              <a:t>User and system data are distributed across all of the disks in the array</a:t>
            </a:r>
          </a:p>
          <a:p>
            <a:r>
              <a:rPr lang="en-US" altLang="zh-CN" dirty="0"/>
              <a:t>Logical disk is divided into strips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Content Placeholder 3" descr="Fig11_08a.gif">
            <a:extLst>
              <a:ext uri="{FF2B5EF4-FFF2-40B4-BE49-F238E27FC236}">
                <a16:creationId xmlns:a16="http://schemas.microsoft.com/office/drawing/2014/main" id="{F9BE4130-B8EE-4BCE-919F-5386C5C565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07308" b="-107308"/>
          <a:stretch>
            <a:fillRect/>
          </a:stretch>
        </p:blipFill>
        <p:spPr>
          <a:xfrm>
            <a:off x="2718179" y="-484495"/>
            <a:ext cx="7086600" cy="10529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280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RAID Level 1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Redundancy is achieved by the simple expedient of duplicating all the data</a:t>
            </a:r>
          </a:p>
          <a:p>
            <a:r>
              <a:rPr lang="en-US" altLang="zh-CN" dirty="0">
                <a:solidFill>
                  <a:srgbClr val="C00000"/>
                </a:solidFill>
              </a:rPr>
              <a:t>There is no “write penalty”</a:t>
            </a:r>
          </a:p>
          <a:p>
            <a:r>
              <a:rPr lang="en-US" altLang="zh-CN" dirty="0"/>
              <a:t>When a drive fails the data may still be accessed from the second drive</a:t>
            </a:r>
          </a:p>
          <a:p>
            <a:r>
              <a:rPr lang="en-US" altLang="zh-CN" dirty="0"/>
              <a:t>Principal </a:t>
            </a:r>
            <a:r>
              <a:rPr lang="en-US" altLang="zh-CN" dirty="0">
                <a:solidFill>
                  <a:srgbClr val="C00000"/>
                </a:solidFill>
              </a:rPr>
              <a:t>disadvantage is the cost</a:t>
            </a:r>
          </a:p>
          <a:p>
            <a:endParaRPr lang="zh-CN" altLang="en-US" dirty="0"/>
          </a:p>
        </p:txBody>
      </p:sp>
      <p:pic>
        <p:nvPicPr>
          <p:cNvPr id="4" name="Content Placeholder 3" descr="Fig11_08b.gif">
            <a:extLst>
              <a:ext uri="{FF2B5EF4-FFF2-40B4-BE49-F238E27FC236}">
                <a16:creationId xmlns:a16="http://schemas.microsoft.com/office/drawing/2014/main" id="{CF387514-6044-4F91-95AA-FFDA76EF2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21685" y="3532496"/>
            <a:ext cx="8248255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49167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RAID Level 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Makes use of a parallel access technique</a:t>
            </a:r>
          </a:p>
          <a:p>
            <a:r>
              <a:rPr lang="en-US" altLang="zh-CN" dirty="0"/>
              <a:t>Data striping is </a:t>
            </a:r>
            <a:r>
              <a:rPr lang="en-US" altLang="zh-CN" dirty="0" smtClean="0"/>
              <a:t>used </a:t>
            </a:r>
            <a:r>
              <a:rPr lang="en-US" altLang="zh-CN" dirty="0" smtClean="0">
                <a:solidFill>
                  <a:srgbClr val="0070C0"/>
                </a:solidFill>
              </a:rPr>
              <a:t>(small strip with one bit or word usually)</a:t>
            </a:r>
            <a:endParaRPr lang="en-US" altLang="zh-CN" dirty="0">
              <a:solidFill>
                <a:srgbClr val="0070C0"/>
              </a:solidFill>
            </a:endParaRPr>
          </a:p>
          <a:p>
            <a:r>
              <a:rPr lang="en-US" altLang="zh-CN" dirty="0"/>
              <a:t>Typically a </a:t>
            </a:r>
            <a:r>
              <a:rPr lang="en-US" altLang="zh-CN" dirty="0">
                <a:solidFill>
                  <a:srgbClr val="0070C0"/>
                </a:solidFill>
              </a:rPr>
              <a:t>Hamming code </a:t>
            </a:r>
            <a:r>
              <a:rPr lang="en-US" altLang="zh-CN" dirty="0"/>
              <a:t>is </a:t>
            </a:r>
            <a:r>
              <a:rPr lang="en-US" altLang="zh-CN" dirty="0" smtClean="0"/>
              <a:t>used (Given </a:t>
            </a:r>
            <a:r>
              <a:rPr lang="en-US" altLang="zh-CN" dirty="0"/>
              <a:t>a certain number of bits, other bits can be obtained through logical operation)</a:t>
            </a:r>
            <a:endParaRPr lang="en-US" altLang="zh-CN" dirty="0"/>
          </a:p>
          <a:p>
            <a:r>
              <a:rPr lang="en-US" altLang="zh-CN" dirty="0"/>
              <a:t>Effective choice in an environment in which many disk errors </a:t>
            </a:r>
            <a:r>
              <a:rPr lang="en-US" altLang="zh-CN" dirty="0" smtClean="0"/>
              <a:t>occur</a:t>
            </a:r>
            <a:endParaRPr lang="en-US" altLang="zh-CN" dirty="0"/>
          </a:p>
        </p:txBody>
      </p:sp>
      <p:pic>
        <p:nvPicPr>
          <p:cNvPr id="4" name="Content Placeholder 3" descr="Fig11_08c.gif">
            <a:extLst>
              <a:ext uri="{FF2B5EF4-FFF2-40B4-BE49-F238E27FC236}">
                <a16:creationId xmlns:a16="http://schemas.microsoft.com/office/drawing/2014/main" id="{5A7FE1CA-FB5F-403E-ADA3-B999FEC50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83391" y="3504063"/>
            <a:ext cx="824836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04984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RAID Level 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Requires </a:t>
            </a:r>
            <a:r>
              <a:rPr lang="en-US" altLang="zh-CN" dirty="0">
                <a:solidFill>
                  <a:srgbClr val="0070C0"/>
                </a:solidFill>
              </a:rPr>
              <a:t>only a single redundant disk</a:t>
            </a:r>
            <a:r>
              <a:rPr lang="en-US" altLang="zh-CN" dirty="0"/>
              <a:t>, no matter how large the disk array</a:t>
            </a:r>
          </a:p>
          <a:p>
            <a:r>
              <a:rPr lang="en-US" altLang="zh-CN" dirty="0"/>
              <a:t>Employs parallel access, with data distributed </a:t>
            </a:r>
            <a:r>
              <a:rPr lang="en-US" altLang="zh-CN" dirty="0">
                <a:solidFill>
                  <a:srgbClr val="C00000"/>
                </a:solidFill>
              </a:rPr>
              <a:t>in small strips</a:t>
            </a:r>
          </a:p>
          <a:p>
            <a:r>
              <a:rPr lang="en-US" altLang="zh-CN" dirty="0"/>
              <a:t>Can achieve very high data transfer rates</a:t>
            </a:r>
          </a:p>
          <a:p>
            <a:endParaRPr lang="zh-CN" altLang="en-US" dirty="0"/>
          </a:p>
        </p:txBody>
      </p:sp>
      <p:pic>
        <p:nvPicPr>
          <p:cNvPr id="4" name="Content Placeholder 3" descr="Fig11_08d.gif">
            <a:extLst>
              <a:ext uri="{FF2B5EF4-FFF2-40B4-BE49-F238E27FC236}">
                <a16:creationId xmlns:a16="http://schemas.microsoft.com/office/drawing/2014/main" id="{93602D01-B40C-47CF-8EB0-E7988F299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21802" y="2608379"/>
            <a:ext cx="8229600" cy="330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458" y="5462768"/>
            <a:ext cx="6642511" cy="1428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389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RAID Level 4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Makes use of an independent access </a:t>
            </a:r>
            <a:r>
              <a:rPr lang="en-US" altLang="zh-CN" dirty="0" smtClean="0"/>
              <a:t>technique (</a:t>
            </a:r>
            <a:r>
              <a:rPr lang="en-US" altLang="zh-CN" dirty="0" smtClean="0">
                <a:solidFill>
                  <a:srgbClr val="0070C0"/>
                </a:solidFill>
              </a:rPr>
              <a:t>large strip with data block</a:t>
            </a:r>
            <a:r>
              <a:rPr lang="en-US" altLang="zh-CN" dirty="0" smtClean="0"/>
              <a:t>)</a:t>
            </a:r>
            <a:endParaRPr lang="en-US" altLang="zh-CN" dirty="0"/>
          </a:p>
          <a:p>
            <a:r>
              <a:rPr lang="en-US" altLang="zh-CN" dirty="0"/>
              <a:t>A bit-by-bit parity strip is calculated across corresponding strips on each data disk, and the parity bits are stored in the corresponding strip on the parity disk</a:t>
            </a:r>
          </a:p>
          <a:p>
            <a:r>
              <a:rPr lang="en-US" altLang="zh-CN" dirty="0"/>
              <a:t>Involves a </a:t>
            </a:r>
            <a:r>
              <a:rPr lang="en-US" altLang="zh-CN" dirty="0">
                <a:solidFill>
                  <a:srgbClr val="C00000"/>
                </a:solidFill>
              </a:rPr>
              <a:t>write penalty </a:t>
            </a:r>
            <a:r>
              <a:rPr lang="en-US" altLang="zh-CN" dirty="0"/>
              <a:t>when an I/O write request of small size is performed</a:t>
            </a:r>
          </a:p>
          <a:p>
            <a:endParaRPr lang="zh-CN" altLang="en-US" dirty="0"/>
          </a:p>
        </p:txBody>
      </p:sp>
      <p:pic>
        <p:nvPicPr>
          <p:cNvPr id="4" name="Content Placeholder 3" descr="Fig11_08e.gif">
            <a:extLst>
              <a:ext uri="{FF2B5EF4-FFF2-40B4-BE49-F238E27FC236}">
                <a16:creationId xmlns:a16="http://schemas.microsoft.com/office/drawing/2014/main" id="{51554888-14CA-46C5-832A-2D060A700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50774" y="3191302"/>
            <a:ext cx="8090452" cy="290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5962" y="5627901"/>
            <a:ext cx="3817284" cy="1098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99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RAID Level 5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4562"/>
            <a:ext cx="10515600" cy="4844493"/>
          </a:xfrm>
        </p:spPr>
        <p:txBody>
          <a:bodyPr/>
          <a:lstStyle/>
          <a:p>
            <a:r>
              <a:rPr lang="en-US" altLang="zh-CN" dirty="0"/>
              <a:t>Similar to RAID-4 but distributes the parity bits across all disks</a:t>
            </a:r>
          </a:p>
          <a:p>
            <a:r>
              <a:rPr lang="en-US" altLang="zh-CN" dirty="0"/>
              <a:t>Typical allocation is a round-robin scheme</a:t>
            </a:r>
          </a:p>
          <a:p>
            <a:r>
              <a:rPr lang="en-US" altLang="zh-CN" dirty="0"/>
              <a:t>Has the characteristic that the </a:t>
            </a:r>
            <a:r>
              <a:rPr lang="en-US" altLang="zh-CN" dirty="0">
                <a:solidFill>
                  <a:srgbClr val="C00000"/>
                </a:solidFill>
              </a:rPr>
              <a:t>loss of any one disk does not result in data loss</a:t>
            </a:r>
          </a:p>
          <a:p>
            <a:r>
              <a:rPr lang="en-US" altLang="zh-CN" dirty="0"/>
              <a:t>Avoiding potential I/O bottleneck issues with a </a:t>
            </a:r>
            <a:r>
              <a:rPr lang="en-US" altLang="zh-CN" dirty="0" smtClean="0"/>
              <a:t>parity check </a:t>
            </a:r>
            <a:r>
              <a:rPr lang="en-US" altLang="zh-CN" dirty="0"/>
              <a:t>disk in RAID 4</a:t>
            </a:r>
            <a:endParaRPr lang="zh-CN" altLang="en-US" dirty="0"/>
          </a:p>
        </p:txBody>
      </p:sp>
      <p:pic>
        <p:nvPicPr>
          <p:cNvPr id="4" name="Content Placeholder 3" descr="Fig11_08f.gif">
            <a:extLst>
              <a:ext uri="{FF2B5EF4-FFF2-40B4-BE49-F238E27FC236}">
                <a16:creationId xmlns:a16="http://schemas.microsoft.com/office/drawing/2014/main" id="{80145C04-EB61-4A87-A348-493A7CED2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90948" y="2967251"/>
            <a:ext cx="8066314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94931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RAID Level 6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4224"/>
            <a:ext cx="10947400" cy="4844493"/>
          </a:xfrm>
        </p:spPr>
        <p:txBody>
          <a:bodyPr/>
          <a:lstStyle/>
          <a:p>
            <a:r>
              <a:rPr lang="en-US" altLang="zh-CN" dirty="0"/>
              <a:t>Two different parity calculations are carried out and stored in separate blocks on different disks</a:t>
            </a:r>
          </a:p>
          <a:p>
            <a:r>
              <a:rPr lang="en-US" altLang="zh-CN" dirty="0"/>
              <a:t>Provides extremely high data availability</a:t>
            </a:r>
          </a:p>
          <a:p>
            <a:r>
              <a:rPr lang="en-US" altLang="zh-CN" dirty="0"/>
              <a:t>Incurs a substantial write penalty because each write affects two parity blocks</a:t>
            </a:r>
          </a:p>
          <a:p>
            <a:r>
              <a:rPr lang="en-US" altLang="zh-CN" dirty="0" smtClean="0">
                <a:solidFill>
                  <a:srgbClr val="0070C0"/>
                </a:solidFill>
              </a:rPr>
              <a:t>N+2</a:t>
            </a:r>
            <a:r>
              <a:rPr lang="en-US" altLang="zh-CN" dirty="0"/>
              <a:t>, Data loss only occurs when three or more disks are damaged simultaneously</a:t>
            </a:r>
            <a:endParaRPr lang="zh-CN" altLang="en-US" dirty="0"/>
          </a:p>
        </p:txBody>
      </p:sp>
      <p:pic>
        <p:nvPicPr>
          <p:cNvPr id="4" name="Content Placeholder 3" descr="Fig11_08g.gif">
            <a:extLst>
              <a:ext uri="{FF2B5EF4-FFF2-40B4-BE49-F238E27FC236}">
                <a16:creationId xmlns:a16="http://schemas.microsoft.com/office/drawing/2014/main" id="{68A8D10D-620F-4055-B216-5DFE21607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83609" y="3205163"/>
            <a:ext cx="8224781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29979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9E532D-CC0F-4A6F-91A5-FB1E557346E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1978926" y="383392"/>
            <a:ext cx="8690985" cy="54970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8B60F59-6B5C-4A5E-A348-042FD6942213}"/>
              </a:ext>
            </a:extLst>
          </p:cNvPr>
          <p:cNvSpPr txBox="1"/>
          <p:nvPr/>
        </p:nvSpPr>
        <p:spPr>
          <a:xfrm>
            <a:off x="5165678" y="6168788"/>
            <a:ext cx="5145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Table 11.4  RAID Levels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9607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1AF5C-4BC4-4356-A2B7-F023B68B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Summary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B9F6F8-80BA-453F-8B4E-F2DBBF328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I/O architecture is the computer system’s interface to the outside world</a:t>
            </a:r>
          </a:p>
          <a:p>
            <a:pPr lvl="1"/>
            <a:r>
              <a:rPr lang="en-US" altLang="zh-CN" dirty="0"/>
              <a:t>I/O functions are generally broken up into a number of layers</a:t>
            </a:r>
          </a:p>
          <a:p>
            <a:pPr lvl="1"/>
            <a:r>
              <a:rPr lang="en-US" altLang="zh-CN" dirty="0"/>
              <a:t>A key aspect of I/O is the use of buffers that are controlled by I/O utilities rather than by application processes</a:t>
            </a:r>
          </a:p>
          <a:p>
            <a:r>
              <a:rPr lang="en-US" altLang="zh-CN" dirty="0"/>
              <a:t>Buffering </a:t>
            </a:r>
            <a:r>
              <a:rPr lang="en-US" altLang="zh-CN" dirty="0" err="1"/>
              <a:t>smoothes</a:t>
            </a:r>
            <a:r>
              <a:rPr lang="en-US" altLang="zh-CN" dirty="0"/>
              <a:t> out the differences between the speeds</a:t>
            </a:r>
          </a:p>
          <a:p>
            <a:pPr lvl="1"/>
            <a:r>
              <a:rPr lang="en-US" altLang="zh-CN" dirty="0"/>
              <a:t>The use of buffers also decouples the actual I/O transfer from the address space of the application process</a:t>
            </a:r>
          </a:p>
          <a:p>
            <a:r>
              <a:rPr lang="en-US" altLang="zh-CN" dirty="0"/>
              <a:t>Disk I/O has the greatest impact on overall system performance</a:t>
            </a:r>
          </a:p>
          <a:p>
            <a:pPr lvl="1"/>
            <a:r>
              <a:rPr lang="en-US" altLang="zh-CN" dirty="0"/>
              <a:t>Two of the most widely used approaches are disk scheduling and the disk cache</a:t>
            </a:r>
          </a:p>
          <a:p>
            <a:r>
              <a:rPr lang="en-US" altLang="zh-CN" dirty="0"/>
              <a:t>A disk cache is a buffer, usually kept in main memory, that functions as a cache of disk block between disk memory and the rest of main memory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6085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D7FA01-5E11-4665-BC14-D816B94ED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Quiz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BA0E06-3696-41B1-A851-A6C112017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Consider a 4-drive, 200GB-per-drive RAID array. What is the available data storage capacity for each of the RAID levels, 0, 1, 3, 4, 5, and 6?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2257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3C868245-C4F8-4979-86EF-4D6B9AA38EE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1462723"/>
            <a:ext cx="8107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1.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在操作系统中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,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用户在使用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I/O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设备时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,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通常采用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    )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F8EA12C-CFC6-401C-BC29-B7C500B6F1C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863691"/>
            <a:ext cx="19323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物理设备名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3D2F68A0-BA72-462F-A305-52C940DBC874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9BA6743-4185-4FB0-96DA-E322E31D1535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3720941"/>
            <a:ext cx="19323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逻辑设备名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C1DD0A31-C7C1-4768-B8A3-D86C41E96A3D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BF9E209-E6E9-44D4-95A3-3716FE3ED853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438400" y="4578191"/>
            <a:ext cx="19323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虚拟设备名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BBF60351-75EE-40B9-B314-66D601656327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A2F0A10-3870-4CA7-8618-6651646D054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2438400" y="5435441"/>
            <a:ext cx="16021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设备牌号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4D544681-6178-4EE8-BEA0-0B93DA60D45A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C3B9C18F-BBC8-4011-84E0-B63D2A98AEBB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2CFC7A2-59CB-4F77-838E-E84911B1B003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EEA1BE58-F195-49C7-BAA1-058C1C4D1713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7790F56A-97E6-488D-BA4F-6E3315785D7B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27313EFA-E80B-4935-AE4A-5009A29A69C3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71DB4182-1284-4286-9658-B36C760575F2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D7247F76-1B3A-4B8B-9699-84ADE0775962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46D64DC7-3868-440B-A9AA-FD70E4D55F13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1219200" y="635000"/>
            <a:ext cx="9753600" cy="48768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6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此题未设置答案，请点击右侧设置按钮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9218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F004EF87-5AEE-4FED-9668-6C8FDAEC907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1264602"/>
            <a:ext cx="9490394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操作系统采用缓冲技术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,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能够减少对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CPU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    )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次数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,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从而提高资源的利用率。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269E3BB-83B0-4556-B13D-81EB21ACDF5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863691"/>
            <a:ext cx="9417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中断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1AFFB5A3-2178-43C4-8C62-220B16DB4A33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3538EBC-BFFB-483B-B39B-A97D05EC05F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3720941"/>
            <a:ext cx="9417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访问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367C133-FC35-470B-8205-68C43F71FC18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E658993-3583-4EB3-95D6-5FA1771EE6E3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438400" y="4578191"/>
            <a:ext cx="9417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控制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6606679E-50C0-4A9D-A2E6-B8DA33633E9C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CE1FE3A-3FDC-44F8-95AA-C03F262030B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2438400" y="5435441"/>
            <a:ext cx="9417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依赖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249BAA9E-BA07-4467-9E6C-EBFA4C9A2B3F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CFB4253-C9F8-4933-9CCD-82E6CAD6AC85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32734DF-8BD8-45FB-9D09-7A0A591E4E03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4" name="TitleBackground">
              <a:extLst>
                <a:ext uri="{FF2B5EF4-FFF2-40B4-BE49-F238E27FC236}">
                  <a16:creationId xmlns:a16="http://schemas.microsoft.com/office/drawing/2014/main" id="{B467D80E-DC7D-4C78-AB6C-32F1ED5F9BCB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>
              <a:extLst>
                <a:ext uri="{FF2B5EF4-FFF2-40B4-BE49-F238E27FC236}">
                  <a16:creationId xmlns:a16="http://schemas.microsoft.com/office/drawing/2014/main" id="{89949D97-A2C3-4EB6-A8A8-29E931301BFA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>
              <a:extLst>
                <a:ext uri="{FF2B5EF4-FFF2-40B4-BE49-F238E27FC236}">
                  <a16:creationId xmlns:a16="http://schemas.microsoft.com/office/drawing/2014/main" id="{144F39F1-AB5C-43B9-AF17-79A5D2208173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>
              <a:extLst>
                <a:ext uri="{FF2B5EF4-FFF2-40B4-BE49-F238E27FC236}">
                  <a16:creationId xmlns:a16="http://schemas.microsoft.com/office/drawing/2014/main" id="{B0EBCCBE-43B9-45FF-A709-C785F592900E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C972EDBE-10EC-4D24-BA9B-72BB3B914A31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803B3A52-76A5-4513-9463-17E2B701782C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1219200" y="635000"/>
            <a:ext cx="9753600" cy="48768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6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此题未设置答案，请点击右侧设置按钮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9739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E36BBE92-1A89-4F4F-AAAF-33AC2004C01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1264602"/>
            <a:ext cx="9458644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3.CPU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输出数据的速度远远高于打印机的打印速度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,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为了解决这一矛盾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,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可采用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    )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9FD71B4-1837-4BD1-BF14-DE43353ED8B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863691"/>
            <a:ext cx="16021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并行技术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42113A52-D6DF-4664-8648-7D0BC07FC3F2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7E80703-0183-461F-B4E5-AF8BA1CB6613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3720941"/>
            <a:ext cx="16021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通道技术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DFA5C1A7-A697-4FF4-963D-0C6B1C3FD5B1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094C183-C66A-434D-ADD8-37F8C2194A4D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438400" y="4578191"/>
            <a:ext cx="16021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缓冲技术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24C39693-46EF-43E5-A811-14AAEB616A61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28BFB57-0AD4-434C-A4FA-77950B313157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2438400" y="5435441"/>
            <a:ext cx="16021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虚存技术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F45D33DA-877C-4E11-8837-6BA837F7A6CE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88180B99-4627-413F-8BFF-BE626EAB0F9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2AC5FE7D-102D-4398-A954-85104371A5E3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4" name="TitleBackground">
              <a:extLst>
                <a:ext uri="{FF2B5EF4-FFF2-40B4-BE49-F238E27FC236}">
                  <a16:creationId xmlns:a16="http://schemas.microsoft.com/office/drawing/2014/main" id="{B9BBE258-6ED5-452C-8B0F-F5AC39E69431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>
              <a:extLst>
                <a:ext uri="{FF2B5EF4-FFF2-40B4-BE49-F238E27FC236}">
                  <a16:creationId xmlns:a16="http://schemas.microsoft.com/office/drawing/2014/main" id="{EF0C2593-AF48-4FB2-ADDF-73232041BA28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>
              <a:extLst>
                <a:ext uri="{FF2B5EF4-FFF2-40B4-BE49-F238E27FC236}">
                  <a16:creationId xmlns:a16="http://schemas.microsoft.com/office/drawing/2014/main" id="{A5ACC6FB-83DA-4AE3-B888-907DAB4D84F6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>
              <a:extLst>
                <a:ext uri="{FF2B5EF4-FFF2-40B4-BE49-F238E27FC236}">
                  <a16:creationId xmlns:a16="http://schemas.microsoft.com/office/drawing/2014/main" id="{D87FE183-74C3-47E4-B3C1-FB8EC5FC53F5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AAC7FFCF-5F5D-486C-8206-04D0CEA66A30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5C6E25D4-C72B-4C90-89D5-56FCAA044BD6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1219200" y="635000"/>
            <a:ext cx="9753600" cy="48768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6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此题未设置答案，请点击右侧设置按钮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61171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9726E30C-4DB5-4E0D-9EBB-6F9474855FC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1462723"/>
            <a:ext cx="347853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4.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缓冲技术用于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    )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A14F7D1-5962-497E-80F3-04F33F69F51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863691"/>
            <a:ext cx="49041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提高主机和设备交换信息的速度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C78A600A-3348-474D-AFF6-608C17432FAA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E21D302-7CA0-4B50-B346-573631AF090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3720941"/>
            <a:ext cx="29229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提供主、辅存接口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6380188E-B8DB-40AD-BF74-1B69F3B6FEAD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C8D5712-6596-400C-A435-47C5F2E176E0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438400" y="4578191"/>
            <a:ext cx="25927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提高设备利用率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9EB42AC0-983E-41F0-9C7F-CC88C737CDA7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038A683-87BA-42BF-81E1-70D424BBC863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2438400" y="5435441"/>
            <a:ext cx="29229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扩充相对地址空间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E65270AC-292F-47F5-8798-4B43B5D4C320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1CBA7BDF-D0C8-47A4-BCEF-A94F459C4C6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E108D858-72F2-4079-82D0-4441D2C25B39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4" name="TitleBackground">
              <a:extLst>
                <a:ext uri="{FF2B5EF4-FFF2-40B4-BE49-F238E27FC236}">
                  <a16:creationId xmlns:a16="http://schemas.microsoft.com/office/drawing/2014/main" id="{4E64B940-2908-4175-81F6-7767CC65767C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>
              <a:extLst>
                <a:ext uri="{FF2B5EF4-FFF2-40B4-BE49-F238E27FC236}">
                  <a16:creationId xmlns:a16="http://schemas.microsoft.com/office/drawing/2014/main" id="{4812CF16-9243-4F21-9102-2B392F1BF84C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>
              <a:extLst>
                <a:ext uri="{FF2B5EF4-FFF2-40B4-BE49-F238E27FC236}">
                  <a16:creationId xmlns:a16="http://schemas.microsoft.com/office/drawing/2014/main" id="{DED18116-2BFD-455B-B5D4-518D628066F9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>
              <a:extLst>
                <a:ext uri="{FF2B5EF4-FFF2-40B4-BE49-F238E27FC236}">
                  <a16:creationId xmlns:a16="http://schemas.microsoft.com/office/drawing/2014/main" id="{EFF5A5E8-C004-417A-8FEB-B4EDBE8084F7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A3388EA5-F8FB-40E6-8E7A-CC59B407D8C6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C1A5FDF2-BC2B-43D5-947C-23B5435DAAC3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1219200" y="635000"/>
            <a:ext cx="9753600" cy="48768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6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此题未设置答案，请点击右侧设置按钮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59075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4C6907A9-57B1-4BC1-BB22-2A84DDCA3E8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1462723"/>
            <a:ext cx="314833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5.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通道是一种</a:t>
            </a:r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    )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0D32D8-420C-45EF-822A-60546D950EC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863691"/>
            <a:ext cx="14497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I/O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端口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9A5075D7-F314-4B33-A0A1-41B0FC6E5F2C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9D6ED1B-4CC8-42C6-BF90-4A6364A34B2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3720941"/>
            <a:ext cx="16021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数据通道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1FF44598-DE5F-4241-ADA0-2326F6D59556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58479F8-6598-49F5-B059-F221F7B4741B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438400" y="4578191"/>
            <a:ext cx="24403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I/O</a:t>
            </a:r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专用处理机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C8B73AD5-B7FF-4B9F-BFFB-C39F7589AB06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4F24464-6BCB-495E-8D4A-B112E884807E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2438400" y="5435441"/>
            <a:ext cx="16021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软件工具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44B9EDD-14FB-4293-A614-1E9ECB5C3007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F50AFD35-014C-4904-AEC6-F1BE18513173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4D3991F7-A184-4927-978D-3AF202952A8C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4" name="TitleBackground">
              <a:extLst>
                <a:ext uri="{FF2B5EF4-FFF2-40B4-BE49-F238E27FC236}">
                  <a16:creationId xmlns:a16="http://schemas.microsoft.com/office/drawing/2014/main" id="{8791AA03-6AC4-4741-8B4F-10218A785A7D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ColorBlock">
              <a:extLst>
                <a:ext uri="{FF2B5EF4-FFF2-40B4-BE49-F238E27FC236}">
                  <a16:creationId xmlns:a16="http://schemas.microsoft.com/office/drawing/2014/main" id="{D627C919-DF09-4D6A-925C-143B6A3A5A1E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ypeText">
              <a:extLst>
                <a:ext uri="{FF2B5EF4-FFF2-40B4-BE49-F238E27FC236}">
                  <a16:creationId xmlns:a16="http://schemas.microsoft.com/office/drawing/2014/main" id="{A1159B7E-C504-426A-B4A1-EDF3C7B608C2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>
              <a:extLst>
                <a:ext uri="{FF2B5EF4-FFF2-40B4-BE49-F238E27FC236}">
                  <a16:creationId xmlns:a16="http://schemas.microsoft.com/office/drawing/2014/main" id="{B6C970EC-4064-465B-879D-2B5C44D907B0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693590E9-A247-4A81-951F-7C9CEA4D067A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9C47F071-8478-4E2F-B04D-94BD53F697C7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1219200" y="635000"/>
            <a:ext cx="9753600" cy="48768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6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此题未设置答案，请点击右侧设置按钮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75899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69FA39-E5D9-4A6B-8D28-51C5F7FCC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Quiz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0823C0A8-13D0-48A2-A78B-B7154F11C9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0752" y="1785257"/>
            <a:ext cx="10912534" cy="3968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582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1920</TotalTime>
  <Words>2547</Words>
  <Application>Microsoft Office PowerPoint</Application>
  <PresentationFormat>宽屏</PresentationFormat>
  <Paragraphs>328</Paragraphs>
  <Slides>52</Slides>
  <Notes>13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61" baseType="lpstr">
      <vt:lpstr>Microsoft Yahei</vt:lpstr>
      <vt:lpstr>等线</vt:lpstr>
      <vt:lpstr>等线 Light</vt:lpstr>
      <vt:lpstr>Arial</vt:lpstr>
      <vt:lpstr>Calibri</vt:lpstr>
      <vt:lpstr>Calibri Light</vt:lpstr>
      <vt:lpstr>Wingdings</vt:lpstr>
      <vt:lpstr>Office 主题​​</vt:lpstr>
      <vt:lpstr>MathType 7.0 Equation</vt:lpstr>
      <vt:lpstr>Operating System</vt:lpstr>
      <vt:lpstr>I/O management and Disk scheduling</vt:lpstr>
      <vt:lpstr>1. Categories of I/O Devices</vt:lpstr>
      <vt:lpstr>Differences in I/O Devices</vt:lpstr>
      <vt:lpstr>2. Organization of the I/O Function</vt:lpstr>
      <vt:lpstr>Evolution of the I/O Function</vt:lpstr>
      <vt:lpstr>3. Design Objectives</vt:lpstr>
      <vt:lpstr>A Model of I/O Organization</vt:lpstr>
      <vt:lpstr>4. Buffering （缓冲）</vt:lpstr>
      <vt:lpstr>Buffering</vt:lpstr>
      <vt:lpstr>Single Buffer</vt:lpstr>
      <vt:lpstr>Block-Oriented Single Buffer</vt:lpstr>
      <vt:lpstr>Stream-Oriented Single Buffer</vt:lpstr>
      <vt:lpstr>Double Buffer</vt:lpstr>
      <vt:lpstr>Circular Buffer</vt:lpstr>
      <vt:lpstr>The Utility of Buffering</vt:lpstr>
      <vt:lpstr>5. Disk Scheduling</vt:lpstr>
      <vt:lpstr>Disk Performance Parameters</vt:lpstr>
      <vt:lpstr>Positioning the Read/Write Heads</vt:lpstr>
      <vt:lpstr>First-In, First-Out (FIFO)</vt:lpstr>
      <vt:lpstr>Priority (PRI)</vt:lpstr>
      <vt:lpstr>Shortest Service Time First (SSTF)</vt:lpstr>
      <vt:lpstr>SCAN</vt:lpstr>
      <vt:lpstr>C-SCAN (Circular SCAN)</vt:lpstr>
      <vt:lpstr>N-Step-SCAN</vt:lpstr>
      <vt:lpstr>FSCAN</vt:lpstr>
      <vt:lpstr>PowerPoint 演示文稿</vt:lpstr>
      <vt:lpstr>PowerPoint 演示文稿</vt:lpstr>
      <vt:lpstr>6. Disk Cache</vt:lpstr>
      <vt:lpstr>It needs replacement Algorithms</vt:lpstr>
      <vt:lpstr>Least Recently Used (LRU) 最近最少使用</vt:lpstr>
      <vt:lpstr>Least Frequently Used (LFU) 最不常使用</vt:lpstr>
      <vt:lpstr>Frequency-Based Replacement</vt:lpstr>
      <vt:lpstr>Quiz</vt:lpstr>
      <vt:lpstr>7. RAID</vt:lpstr>
      <vt:lpstr>PowerPoint 演示文稿</vt:lpstr>
      <vt:lpstr>RAID Level 0</vt:lpstr>
      <vt:lpstr>RAID Level 1</vt:lpstr>
      <vt:lpstr>RAID Level 2</vt:lpstr>
      <vt:lpstr>RAID Level 3</vt:lpstr>
      <vt:lpstr>RAID Level 4</vt:lpstr>
      <vt:lpstr>RAID Level 5</vt:lpstr>
      <vt:lpstr>RAID Level 6</vt:lpstr>
      <vt:lpstr>PowerPoint 演示文稿</vt:lpstr>
      <vt:lpstr>Summary</vt:lpstr>
      <vt:lpstr>Quiz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Quiz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System</dc:title>
  <dc:creator>飞 滕</dc:creator>
  <cp:lastModifiedBy>Administrator</cp:lastModifiedBy>
  <cp:revision>265</cp:revision>
  <dcterms:created xsi:type="dcterms:W3CDTF">2020-02-20T05:29:15Z</dcterms:created>
  <dcterms:modified xsi:type="dcterms:W3CDTF">2026-06-06T06:59:15Z</dcterms:modified>
</cp:coreProperties>
</file>